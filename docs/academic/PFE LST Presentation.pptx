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xmlns=""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embeddedFontLst>
    <p:embeddedFont>
      <p:font typeface="DM Sans"/>
      <p:regular r:id="rId33"/>
    </p:embeddedFont>
    <p:embeddedFont>
      <p:font typeface="Noe Display"/>
      <p:regular r:id="rId34"/>
    </p:embeddedFont>
    <p:embeddedFont>
      <p:font typeface="Libre Baskerville"/>
      <p:regular r:id="rId35"/>
    </p:embeddedFont>
    <p:embeddedFont>
      <p:font typeface="DM Serif Text"/>
      <p:regular r:id="rId36"/>
    </p:embeddedFont>
    <p:embeddedFont>
      <p:font typeface="Palatino Linotype"/>
      <p:regular r:id="rId37"/>
    </p:embeddedFont>
    <p:embeddedFont>
      <p:font typeface="Goudy Trajan"/>
      <p:regular r:id="rId38"/>
    </p:embeddedFont>
    <p:embeddedFont>
      <p:font typeface="Inter"/>
      <p:regular r:id="rId39"/>
    </p:embeddedFont>
    <p:embeddedFont>
      <p:font typeface="DM Serif Display"/>
      <p:regular r:id="rId4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xmlns="" Id="rId33" Type="http://schemas.openxmlformats.org/officeDocument/2006/relationships/font" Target="fonts/rId33.fntdata"/><Relationship xmlns="" Id="rId34" Type="http://schemas.openxmlformats.org/officeDocument/2006/relationships/font" Target="fonts/rId34.fntdata"/><Relationship xmlns="" Id="rId35" Type="http://schemas.openxmlformats.org/officeDocument/2006/relationships/font" Target="fonts/rId35.fntdata"/><Relationship xmlns="" Id="rId36" Type="http://schemas.openxmlformats.org/officeDocument/2006/relationships/font" Target="fonts/rId36.fntdata"/><Relationship xmlns="" Id="rId37" Type="http://schemas.openxmlformats.org/officeDocument/2006/relationships/font" Target="fonts/rId37.fntdata"/><Relationship xmlns="" Id="rId38" Type="http://schemas.openxmlformats.org/officeDocument/2006/relationships/font" Target="fonts/rId38.fntdata"/><Relationship xmlns="" Id="rId39" Type="http://schemas.openxmlformats.org/officeDocument/2006/relationships/font" Target="fonts/rId39.fntdata"/><Relationship xmlns="" Id="rId40" Type="http://schemas.openxmlformats.org/officeDocument/2006/relationships/font" Target="fonts/rId4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3338" y="0"/>
            <a:ext cx="9110663" cy="5124450"/>
          </a:xfrm>
          <a:prstGeom prst="rect">
            <a:avLst/>
          </a:prstGeom>
          <a:noFill/>
          <a:ln w="135731">
            <a:solidFill>
              <a:srgbClr val="FFFFFF"/>
            </a:solidFill>
            <a:prstDash val="solid"/>
          </a:ln>
        </p:spPr>
      </p:sp>
      <p:pic>
        <p:nvPicPr>
          <p:cNvPr id="3"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4" name="Image 1" descr="preencoded.png">    </p:cNvPr>
          <p:cNvPicPr>
            <a:picLocks noChangeAspect="1"/>
          </p:cNvPicPr>
          <p:nvPr/>
        </p:nvPicPr>
        <p:blipFill>
          <a:blip r:embed="rId2"/>
          <a:srcRect l="0" r="0" t="0" b="0"/>
          <a:stretch/>
        </p:blipFill>
        <p:spPr>
          <a:xfrm>
            <a:off x="166688" y="261937"/>
            <a:ext cx="8720138" cy="4624388"/>
          </a:xfrm>
          <a:prstGeom prst="rect">
            <a:avLst/>
          </a:prstGeom>
        </p:spPr>
      </p:pic>
      <p:sp>
        <p:nvSpPr>
          <p:cNvPr id="5" name="Text 1"/>
          <p:cNvSpPr/>
          <p:nvPr/>
        </p:nvSpPr>
        <p:spPr>
          <a:xfrm>
            <a:off x="238125" y="4843463"/>
            <a:ext cx="1666875" cy="204788"/>
          </a:xfrm>
          <a:prstGeom prst="rect">
            <a:avLst/>
          </a:prstGeom>
          <a:noFill/>
          <a:ln/>
        </p:spPr>
        <p:txBody>
          <a:bodyPr wrap="square" lIns="0" tIns="0" rIns="0" bIns="0" rtlCol="0" anchor="t"/>
          <a:lstStyle/>
          <a:p>
            <a:pPr algn="l" indent="0" marL="0">
              <a:lnSpc>
                <a:spcPts val="1539"/>
              </a:lnSpc>
              <a:buNone/>
            </a:pPr>
            <a:r>
              <a:rPr lang="en-US" sz="1140" dirty="0">
                <a:solidFill>
                  <a:srgbClr val="888888">
                    <a:alpha val="99000"/>
                  </a:srgbClr>
                </a:solidFill>
                <a:latin typeface="DM Sans" pitchFamily="34" charset="0"/>
                <a:ea typeface="DM Sans" pitchFamily="34" charset="-122"/>
                <a:cs typeface="DM Sans" pitchFamily="34" charset="-120"/>
              </a:rPr>
              <a:t>Soutenu le 25 Juin 2026</a:t>
            </a:r>
            <a:endParaRPr lang="en-US" sz="1140" dirty="0"/>
          </a:p>
        </p:txBody>
      </p:sp>
      <p:sp>
        <p:nvSpPr>
          <p:cNvPr id="6" name="Text 2"/>
          <p:cNvSpPr/>
          <p:nvPr/>
        </p:nvSpPr>
        <p:spPr>
          <a:xfrm>
            <a:off x="6638925" y="4843463"/>
            <a:ext cx="2266950" cy="204788"/>
          </a:xfrm>
          <a:prstGeom prst="rect">
            <a:avLst/>
          </a:prstGeom>
          <a:noFill/>
          <a:ln/>
        </p:spPr>
        <p:txBody>
          <a:bodyPr wrap="square" lIns="0" tIns="0" rIns="0" bIns="0" rtlCol="0" anchor="t"/>
          <a:lstStyle/>
          <a:p>
            <a:pPr algn="r" indent="0" marL="0">
              <a:lnSpc>
                <a:spcPts val="1539"/>
              </a:lnSpc>
              <a:buNone/>
            </a:pPr>
            <a:r>
              <a:rPr lang="en-US" sz="1140" dirty="0">
                <a:solidFill>
                  <a:srgbClr val="888888">
                    <a:alpha val="99000"/>
                  </a:srgbClr>
                </a:solidFill>
                <a:latin typeface="DM Sans" pitchFamily="34" charset="0"/>
                <a:ea typeface="DM Sans" pitchFamily="34" charset="-122"/>
                <a:cs typeface="DM Sans" pitchFamily="34" charset="-120"/>
              </a:rPr>
              <a:t>Année Universitaire 2025-2026</a:t>
            </a:r>
            <a:endParaRPr lang="en-US" sz="1140" dirty="0"/>
          </a:p>
        </p:txBody>
      </p:sp>
      <p:pic>
        <p:nvPicPr>
          <p:cNvPr id="7" name="Image 2" descr="preencoded.png">    </p:cNvPr>
          <p:cNvPicPr>
            <a:picLocks noChangeAspect="1"/>
          </p:cNvPicPr>
          <p:nvPr/>
        </p:nvPicPr>
        <p:blipFill>
          <a:blip r:embed="rId3"/>
          <a:srcRect l="0" r="0" t="0" b="0"/>
          <a:stretch/>
        </p:blipFill>
        <p:spPr>
          <a:xfrm>
            <a:off x="4000500" y="2886075"/>
            <a:ext cx="1057275" cy="747713"/>
          </a:xfrm>
          <a:prstGeom prst="rect">
            <a:avLst/>
          </a:prstGeom>
        </p:spPr>
      </p:pic>
      <p:sp>
        <p:nvSpPr>
          <p:cNvPr id="8" name="Text 3"/>
          <p:cNvSpPr/>
          <p:nvPr/>
        </p:nvSpPr>
        <p:spPr>
          <a:xfrm>
            <a:off x="6581775" y="3819525"/>
            <a:ext cx="2024062" cy="604838"/>
          </a:xfrm>
          <a:prstGeom prst="rect">
            <a:avLst/>
          </a:prstGeom>
          <a:noFill/>
          <a:ln/>
        </p:spPr>
        <p:txBody>
          <a:bodyPr wrap="square" lIns="0" tIns="0" rIns="0" bIns="0" rtlCol="0" anchor="t"/>
          <a:lstStyle/>
          <a:p>
            <a:pPr algn="ctr" indent="0" marL="0">
              <a:lnSpc>
                <a:spcPts val="1539"/>
              </a:lnSpc>
              <a:buNone/>
            </a:pPr>
            <a:r>
              <a:rPr lang="en-US" sz="1140" b="1" dirty="0">
                <a:solidFill>
                  <a:srgbClr val="141414">
                    <a:alpha val="99000"/>
                  </a:srgbClr>
                </a:solidFill>
                <a:latin typeface="Noe Display" pitchFamily="34" charset="0"/>
                <a:ea typeface="Noe Display" pitchFamily="34" charset="-122"/>
                <a:cs typeface="Noe Display" pitchFamily="34" charset="-120"/>
              </a:rPr>
              <a:t>Encadré  par : </a:t>
            </a:r>
            <a:pPr algn="ctr"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Pr. Jamal KHARROUBI Mr.  Abdelmounim HAJJOUJI</a:t>
            </a:r>
            <a:endParaRPr lang="en-US" sz="1140" dirty="0"/>
          </a:p>
        </p:txBody>
      </p:sp>
      <p:sp>
        <p:nvSpPr>
          <p:cNvPr id="9" name="Text 4"/>
          <p:cNvSpPr/>
          <p:nvPr/>
        </p:nvSpPr>
        <p:spPr>
          <a:xfrm>
            <a:off x="3705225" y="3819525"/>
            <a:ext cx="1738313" cy="809625"/>
          </a:xfrm>
          <a:prstGeom prst="rect">
            <a:avLst/>
          </a:prstGeom>
          <a:noFill/>
          <a:ln/>
        </p:spPr>
        <p:txBody>
          <a:bodyPr wrap="square" lIns="0" tIns="0" rIns="0" bIns="0" rtlCol="0" anchor="t"/>
          <a:lstStyle/>
          <a:p>
            <a:pPr algn="ctr" indent="0" marL="0">
              <a:lnSpc>
                <a:spcPts val="1539"/>
              </a:lnSpc>
              <a:buNone/>
            </a:pPr>
            <a:r>
              <a:rPr lang="en-US" sz="1140" b="1" dirty="0">
                <a:solidFill>
                  <a:srgbClr val="141414">
                    <a:alpha val="99000"/>
                  </a:srgbClr>
                </a:solidFill>
                <a:latin typeface="Noe Display" pitchFamily="34" charset="0"/>
                <a:ea typeface="Noe Display" pitchFamily="34" charset="-122"/>
                <a:cs typeface="Noe Display" pitchFamily="34" charset="-120"/>
              </a:rPr>
              <a:t>Devant le Jury :</a:t>
            </a:r>
            <a:endParaRPr lang="en-US" sz="1140" dirty="0"/>
          </a:p>
          <a:p>
            <a:pPr algn="ctr"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Pr. Sarah DAHIR</a:t>
            </a:r>
            <a:endParaRPr lang="en-US" sz="1140" dirty="0"/>
          </a:p>
          <a:p>
            <a:pPr algn="ctr"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Pr. Youness OUBENAALLA</a:t>
            </a:r>
            <a:endParaRPr lang="en-US" sz="1140" dirty="0"/>
          </a:p>
          <a:p>
            <a:pPr algn="ctr"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Pr. Jamal KHARROUBI</a:t>
            </a:r>
            <a:endParaRPr lang="en-US" sz="1140" dirty="0"/>
          </a:p>
        </p:txBody>
      </p:sp>
      <p:sp>
        <p:nvSpPr>
          <p:cNvPr id="10" name="Text 5"/>
          <p:cNvSpPr/>
          <p:nvPr/>
        </p:nvSpPr>
        <p:spPr>
          <a:xfrm>
            <a:off x="971550" y="3819525"/>
            <a:ext cx="1285875" cy="400050"/>
          </a:xfrm>
          <a:prstGeom prst="rect">
            <a:avLst/>
          </a:prstGeom>
          <a:noFill/>
          <a:ln/>
        </p:spPr>
        <p:txBody>
          <a:bodyPr wrap="square" lIns="0" tIns="0" rIns="0" bIns="0" rtlCol="0" anchor="t"/>
          <a:lstStyle/>
          <a:p>
            <a:pPr algn="ctr" indent="0" marL="0">
              <a:lnSpc>
                <a:spcPts val="1539"/>
              </a:lnSpc>
              <a:buNone/>
            </a:pPr>
            <a:r>
              <a:rPr lang="en-US" sz="1140" b="1" dirty="0">
                <a:solidFill>
                  <a:srgbClr val="141414">
                    <a:alpha val="99000"/>
                  </a:srgbClr>
                </a:solidFill>
                <a:latin typeface="Noe Display" pitchFamily="34" charset="0"/>
                <a:ea typeface="Noe Display" pitchFamily="34" charset="-122"/>
                <a:cs typeface="Noe Display" pitchFamily="34" charset="-120"/>
              </a:rPr>
              <a:t>Présenté par : </a:t>
            </a:r>
            <a:pPr algn="ctr"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Oussama YINSSI</a:t>
            </a:r>
            <a:endParaRPr lang="en-US" sz="1140" dirty="0"/>
          </a:p>
        </p:txBody>
      </p:sp>
      <p:sp>
        <p:nvSpPr>
          <p:cNvPr id="11" name="Text 6"/>
          <p:cNvSpPr/>
          <p:nvPr/>
        </p:nvSpPr>
        <p:spPr>
          <a:xfrm>
            <a:off x="538163" y="828675"/>
            <a:ext cx="8067675" cy="280988"/>
          </a:xfrm>
          <a:prstGeom prst="rect">
            <a:avLst/>
          </a:prstGeom>
          <a:noFill/>
          <a:ln/>
        </p:spPr>
        <p:txBody>
          <a:bodyPr wrap="square" lIns="0" tIns="0" rIns="0" bIns="0" rtlCol="0" anchor="t"/>
          <a:lstStyle/>
          <a:p>
            <a:pPr algn="ctr" indent="0" marL="0">
              <a:lnSpc>
                <a:spcPts val="2116"/>
              </a:lnSpc>
              <a:buNone/>
            </a:pPr>
            <a:r>
              <a:rPr lang="en-US" sz="1568" dirty="0">
                <a:solidFill>
                  <a:srgbClr val="141414">
                    <a:alpha val="99000"/>
                  </a:srgbClr>
                </a:solidFill>
                <a:latin typeface="DM Sans" pitchFamily="34" charset="0"/>
                <a:ea typeface="DM Sans" pitchFamily="34" charset="-122"/>
                <a:cs typeface="DM Sans" pitchFamily="34" charset="-120"/>
              </a:rPr>
              <a:t>Licence Sciences et Techniques Génie Informatique</a:t>
            </a:r>
            <a:endParaRPr lang="en-US" sz="1568" dirty="0"/>
          </a:p>
        </p:txBody>
      </p:sp>
      <p:sp>
        <p:nvSpPr>
          <p:cNvPr id="12" name="Text 7"/>
          <p:cNvSpPr/>
          <p:nvPr/>
        </p:nvSpPr>
        <p:spPr>
          <a:xfrm>
            <a:off x="538163" y="1109663"/>
            <a:ext cx="8067675" cy="280988"/>
          </a:xfrm>
          <a:prstGeom prst="rect">
            <a:avLst/>
          </a:prstGeom>
          <a:noFill/>
          <a:ln/>
        </p:spPr>
        <p:txBody>
          <a:bodyPr wrap="square" lIns="0" tIns="0" rIns="0" bIns="0" rtlCol="0" anchor="t"/>
          <a:lstStyle/>
          <a:p>
            <a:pPr algn="ctr" indent="0" marL="0">
              <a:lnSpc>
                <a:spcPts val="2116"/>
              </a:lnSpc>
              <a:buNone/>
            </a:pPr>
            <a:r>
              <a:rPr lang="en-US" sz="1568" dirty="0">
                <a:solidFill>
                  <a:srgbClr val="141414">
                    <a:alpha val="99000"/>
                  </a:srgbClr>
                </a:solidFill>
                <a:latin typeface="DM Sans" pitchFamily="34" charset="0"/>
                <a:ea typeface="DM Sans" pitchFamily="34" charset="-122"/>
                <a:cs typeface="DM Sans" pitchFamily="34" charset="-120"/>
              </a:rPr>
              <a:t>Département Informatique</a:t>
            </a:r>
            <a:endParaRPr lang="en-US" sz="1568" dirty="0"/>
          </a:p>
        </p:txBody>
      </p:sp>
      <p:sp>
        <p:nvSpPr>
          <p:cNvPr id="13" name="Text 8"/>
          <p:cNvSpPr/>
          <p:nvPr/>
        </p:nvSpPr>
        <p:spPr>
          <a:xfrm>
            <a:off x="538163" y="1509713"/>
            <a:ext cx="8067675" cy="280988"/>
          </a:xfrm>
          <a:prstGeom prst="rect">
            <a:avLst/>
          </a:prstGeom>
          <a:noFill/>
          <a:ln/>
        </p:spPr>
        <p:txBody>
          <a:bodyPr wrap="square" lIns="0" tIns="0" rIns="0" bIns="0" rtlCol="0" anchor="t"/>
          <a:lstStyle/>
          <a:p>
            <a:pPr algn="ctr" indent="0" marL="0">
              <a:lnSpc>
                <a:spcPts val="2116"/>
              </a:lnSpc>
              <a:buNone/>
            </a:pPr>
            <a:r>
              <a:rPr lang="en-US" sz="1568" dirty="0">
                <a:solidFill>
                  <a:srgbClr val="141414">
                    <a:alpha val="99000"/>
                  </a:srgbClr>
                </a:solidFill>
                <a:latin typeface="DM Sans" pitchFamily="34" charset="0"/>
                <a:ea typeface="DM Sans" pitchFamily="34" charset="-122"/>
                <a:cs typeface="DM Sans" pitchFamily="34" charset="-120"/>
              </a:rPr>
              <a:t>Présentation du Projet de Fin d’Etudes :</a:t>
            </a:r>
            <a:endParaRPr lang="en-US" sz="1568" dirty="0"/>
          </a:p>
        </p:txBody>
      </p:sp>
      <p:sp>
        <p:nvSpPr>
          <p:cNvPr id="14" name="Text 9"/>
          <p:cNvSpPr/>
          <p:nvPr/>
        </p:nvSpPr>
        <p:spPr>
          <a:xfrm>
            <a:off x="428625" y="1933575"/>
            <a:ext cx="8291513" cy="838200"/>
          </a:xfrm>
          <a:prstGeom prst="rect">
            <a:avLst/>
          </a:prstGeom>
          <a:noFill/>
          <a:ln/>
        </p:spPr>
        <p:txBody>
          <a:bodyPr wrap="square" lIns="0" tIns="0" rIns="0" bIns="0" rtlCol="0" anchor="t"/>
          <a:lstStyle/>
          <a:p>
            <a:pPr algn="ctr" indent="0" marL="0">
              <a:lnSpc>
                <a:spcPts val="3135"/>
              </a:lnSpc>
              <a:buNone/>
            </a:pPr>
            <a:r>
              <a:rPr lang="en-US" sz="2850" b="1" spc="-85" kern="0" dirty="0">
                <a:solidFill>
                  <a:srgbClr val="01375D">
                    <a:alpha val="99000"/>
                  </a:srgbClr>
                </a:solidFill>
                <a:latin typeface="Libre Baskerville" pitchFamily="34" charset="0"/>
                <a:ea typeface="Libre Baskerville" pitchFamily="34" charset="-122"/>
                <a:cs typeface="Libre Baskerville" pitchFamily="34" charset="-120"/>
              </a:rPr>
              <a:t>Développement D’une Application Web Pour La Gestion Des Ressources Humaines</a:t>
            </a:r>
            <a:endParaRPr lang="en-US" sz="2850" dirty="0"/>
          </a:p>
        </p:txBody>
      </p:sp>
      <p:pic>
        <p:nvPicPr>
          <p:cNvPr id="15" name="Image 3" descr="preencoded.png">    </p:cNvPr>
          <p:cNvPicPr>
            <a:picLocks noChangeAspect="1"/>
          </p:cNvPicPr>
          <p:nvPr/>
        </p:nvPicPr>
        <p:blipFill>
          <a:blip r:embed="rId4"/>
          <a:srcRect l="0" r="0" t="0" b="0"/>
          <a:stretch/>
        </p:blipFill>
        <p:spPr>
          <a:xfrm>
            <a:off x="1990725" y="47625"/>
            <a:ext cx="5357813" cy="5857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76250" y="2143125"/>
            <a:ext cx="3429000" cy="857250"/>
          </a:xfrm>
          <a:prstGeom prst="rect">
            <a:avLst/>
          </a:prstGeom>
          <a:noFill/>
          <a:ln/>
        </p:spPr>
        <p:txBody>
          <a:bodyPr wrap="square" lIns="0" tIns="0" rIns="0" bIns="0" rtlCol="0" anchor="t"/>
          <a:lstStyle/>
          <a:p>
            <a:pPr algn="ctr"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Plan  De La Présentation</a:t>
            </a:r>
            <a:endParaRPr lang="en-US" sz="3206" dirty="0"/>
          </a:p>
        </p:txBody>
      </p:sp>
      <p:sp>
        <p:nvSpPr>
          <p:cNvPr id="3" name="Shape 1"/>
          <p:cNvSpPr/>
          <p:nvPr/>
        </p:nvSpPr>
        <p:spPr>
          <a:xfrm>
            <a:off x="4824413" y="1181100"/>
            <a:ext cx="4081463" cy="2781300"/>
          </a:xfrm>
          <a:prstGeom prst="rect">
            <a:avLst/>
          </a:prstGeom>
          <a:noFill/>
          <a:ln/>
        </p:spPr>
      </p:sp>
      <p:sp>
        <p:nvSpPr>
          <p:cNvPr id="4" name="Shape 2"/>
          <p:cNvSpPr/>
          <p:nvPr/>
        </p:nvSpPr>
        <p:spPr>
          <a:xfrm>
            <a:off x="4824413" y="1181100"/>
            <a:ext cx="1995487" cy="342900"/>
          </a:xfrm>
          <a:prstGeom prst="rect">
            <a:avLst/>
          </a:prstGeom>
          <a:noFill/>
          <a:ln/>
        </p:spPr>
      </p:sp>
      <p:sp>
        <p:nvSpPr>
          <p:cNvPr id="5" name="Text 3"/>
          <p:cNvSpPr/>
          <p:nvPr/>
        </p:nvSpPr>
        <p:spPr>
          <a:xfrm>
            <a:off x="4824413" y="1181100"/>
            <a:ext cx="1995487" cy="342900"/>
          </a:xfrm>
          <a:prstGeom prst="rect">
            <a:avLst/>
          </a:prstGeom>
          <a:noFill/>
          <a:ln/>
        </p:spPr>
        <p:txBody>
          <a:bodyPr wrap="square" lIns="0" tIns="0" rIns="0" bIns="0" rtlCol="0" anchor="t"/>
          <a:lstStyle/>
          <a:p>
            <a:pPr algn="l" marL="342900" indent="-342900">
              <a:lnSpc>
                <a:spcPts val="2565"/>
              </a:lnSpc>
              <a:buSzPct val="100000"/>
              <a:buFont typeface="+mj-lt"/>
              <a:buAutoNum type="arabicPeriod" startAt="1"/>
            </a:pPr>
            <a:r>
              <a:rPr lang="en-US" sz="2138" spc="-21" kern="0" dirty="0">
                <a:solidFill>
                  <a:srgbClr val="141414">
                    <a:alpha val="99000"/>
                  </a:srgbClr>
                </a:solidFill>
                <a:latin typeface="Palatino Linotype" pitchFamily="34" charset="0"/>
                <a:ea typeface="Palatino Linotype" pitchFamily="34" charset="-122"/>
                <a:cs typeface="Palatino Linotype" pitchFamily="34" charset="-120"/>
              </a:rPr>
              <a:t>Introduction</a:t>
            </a:r>
            <a:endParaRPr lang="en-US" sz="2138" dirty="0"/>
          </a:p>
        </p:txBody>
      </p:sp>
      <p:sp>
        <p:nvSpPr>
          <p:cNvPr id="6" name="Text 4"/>
          <p:cNvSpPr/>
          <p:nvPr/>
        </p:nvSpPr>
        <p:spPr>
          <a:xfrm>
            <a:off x="4824413" y="1790700"/>
            <a:ext cx="3038475" cy="342900"/>
          </a:xfrm>
          <a:prstGeom prst="rect">
            <a:avLst/>
          </a:prstGeom>
          <a:noFill/>
          <a:ln/>
        </p:spPr>
        <p:txBody>
          <a:bodyPr wrap="square" lIns="0" tIns="0" rIns="0" bIns="0" rtlCol="0" anchor="t"/>
          <a:lstStyle/>
          <a:p>
            <a:pPr algn="l" marL="342900" indent="-342900">
              <a:lnSpc>
                <a:spcPts val="2565"/>
              </a:lnSpc>
              <a:buSzPct val="100000"/>
              <a:buFont typeface="+mj-lt"/>
              <a:buAutoNum type="arabicPeriod" startAt="1"/>
            </a:pPr>
            <a:r>
              <a:rPr lang="en-US" sz="2138" spc="-21" kern="0" dirty="0">
                <a:solidFill>
                  <a:srgbClr val="141414">
                    <a:alpha val="99000"/>
                  </a:srgbClr>
                </a:solidFill>
                <a:latin typeface="Palatino Linotype" pitchFamily="34" charset="0"/>
                <a:ea typeface="Palatino Linotype" pitchFamily="34" charset="-122"/>
                <a:cs typeface="Palatino Linotype" pitchFamily="34" charset="-120"/>
              </a:rPr>
              <a:t>NewDev Maroc</a:t>
            </a:r>
            <a:endParaRPr lang="en-US" sz="2138" dirty="0"/>
          </a:p>
        </p:txBody>
      </p:sp>
      <p:sp>
        <p:nvSpPr>
          <p:cNvPr id="7" name="Text 5"/>
          <p:cNvSpPr/>
          <p:nvPr/>
        </p:nvSpPr>
        <p:spPr>
          <a:xfrm>
            <a:off x="4824413" y="2400300"/>
            <a:ext cx="3233738" cy="342900"/>
          </a:xfrm>
          <a:prstGeom prst="rect">
            <a:avLst/>
          </a:prstGeom>
          <a:noFill/>
          <a:ln/>
        </p:spPr>
        <p:txBody>
          <a:bodyPr wrap="square" lIns="0" tIns="0" rIns="0" bIns="0" rtlCol="0" anchor="t"/>
          <a:lstStyle/>
          <a:p>
            <a:pPr algn="l" marL="342900" indent="-342900">
              <a:lnSpc>
                <a:spcPts val="2565"/>
              </a:lnSpc>
              <a:buSzPct val="100000"/>
              <a:buFont typeface="+mj-lt"/>
              <a:buAutoNum type="arabicPeriod" startAt="1"/>
            </a:pPr>
            <a:r>
              <a:rPr lang="en-US" sz="2138" spc="-21" kern="0" dirty="0">
                <a:solidFill>
                  <a:srgbClr val="141414">
                    <a:alpha val="99000"/>
                  </a:srgbClr>
                </a:solidFill>
                <a:latin typeface="Palatino Linotype" pitchFamily="34" charset="0"/>
                <a:ea typeface="Palatino Linotype" pitchFamily="34" charset="-122"/>
                <a:cs typeface="Palatino Linotype" pitchFamily="34" charset="-120"/>
              </a:rPr>
              <a:t>Analyse &amp; Conception</a:t>
            </a:r>
            <a:endParaRPr lang="en-US" sz="2138" dirty="0"/>
          </a:p>
        </p:txBody>
      </p:sp>
      <p:sp>
        <p:nvSpPr>
          <p:cNvPr id="8" name="Text 6"/>
          <p:cNvSpPr/>
          <p:nvPr/>
        </p:nvSpPr>
        <p:spPr>
          <a:xfrm>
            <a:off x="4824413" y="3009900"/>
            <a:ext cx="1800225" cy="342900"/>
          </a:xfrm>
          <a:prstGeom prst="rect">
            <a:avLst/>
          </a:prstGeom>
          <a:noFill/>
          <a:ln/>
        </p:spPr>
        <p:txBody>
          <a:bodyPr wrap="square" lIns="0" tIns="0" rIns="0" bIns="0" rtlCol="0" anchor="t"/>
          <a:lstStyle/>
          <a:p>
            <a:pPr algn="l" marL="342900" indent="-342900">
              <a:lnSpc>
                <a:spcPts val="2565"/>
              </a:lnSpc>
              <a:buSzPct val="100000"/>
              <a:buFont typeface="+mj-lt"/>
              <a:buAutoNum type="arabicPeriod" startAt="1"/>
            </a:pPr>
            <a:r>
              <a:rPr lang="en-US" sz="2138" spc="-21" kern="0" dirty="0">
                <a:solidFill>
                  <a:srgbClr val="141414">
                    <a:alpha val="99000"/>
                  </a:srgbClr>
                </a:solidFill>
                <a:latin typeface="Palatino Linotype" pitchFamily="34" charset="0"/>
                <a:ea typeface="Palatino Linotype" pitchFamily="34" charset="-122"/>
                <a:cs typeface="Palatino Linotype" pitchFamily="34" charset="-120"/>
              </a:rPr>
              <a:t>Réalisation</a:t>
            </a:r>
            <a:endParaRPr lang="en-US" sz="2138" dirty="0"/>
          </a:p>
        </p:txBody>
      </p:sp>
      <p:sp>
        <p:nvSpPr>
          <p:cNvPr id="9" name="Text 7"/>
          <p:cNvSpPr/>
          <p:nvPr/>
        </p:nvSpPr>
        <p:spPr>
          <a:xfrm>
            <a:off x="4824413" y="3619500"/>
            <a:ext cx="4081463" cy="342900"/>
          </a:xfrm>
          <a:prstGeom prst="rect">
            <a:avLst/>
          </a:prstGeom>
          <a:noFill/>
          <a:ln/>
        </p:spPr>
        <p:txBody>
          <a:bodyPr wrap="square" lIns="0" tIns="0" rIns="0" bIns="0" rtlCol="0" anchor="t"/>
          <a:lstStyle/>
          <a:p>
            <a:pPr algn="l" marL="342900" indent="-342900">
              <a:lnSpc>
                <a:spcPts val="2565"/>
              </a:lnSpc>
              <a:buSzPct val="100000"/>
              <a:buFont typeface="+mj-lt"/>
              <a:buAutoNum type="arabicPeriod" startAt="1"/>
            </a:pPr>
            <a:r>
              <a:rPr lang="en-US" sz="2138" spc="-21" kern="0" dirty="0">
                <a:solidFill>
                  <a:srgbClr val="141414">
                    <a:alpha val="99000"/>
                  </a:srgbClr>
                </a:solidFill>
                <a:latin typeface="Palatino Linotype" pitchFamily="34" charset="0"/>
                <a:ea typeface="Palatino Linotype" pitchFamily="34" charset="-122"/>
                <a:cs typeface="Palatino Linotype" pitchFamily="34" charset="-120"/>
              </a:rPr>
              <a:t>Démonstration &amp; </a:t>
            </a:r>
            <a:pPr algn="l" indent="0" marL="0">
              <a:lnSpc>
                <a:spcPts val="2565"/>
              </a:lnSpc>
              <a:buNone/>
            </a:pPr>
            <a:r>
              <a:rPr lang="en-US" sz="2138" spc="-21" kern="0" dirty="0">
                <a:solidFill>
                  <a:srgbClr val="141414">
                    <a:alpha val="99000"/>
                  </a:srgbClr>
                </a:solidFill>
                <a:latin typeface="Palatino Linotype" pitchFamily="34" charset="0"/>
                <a:ea typeface="Palatino Linotype" pitchFamily="34" charset="-122"/>
                <a:cs typeface="Palatino Linotype" pitchFamily="34" charset="-120"/>
              </a:rPr>
              <a:t>Conclusion</a:t>
            </a:r>
            <a:endParaRPr lang="en-US" sz="2138" dirty="0"/>
          </a:p>
        </p:txBody>
      </p:sp>
      <p:sp>
        <p:nvSpPr>
          <p:cNvPr id="10" name="Text 8"/>
          <p:cNvSpPr/>
          <p:nvPr/>
        </p:nvSpPr>
        <p:spPr>
          <a:xfrm>
            <a:off x="476250" y="381000"/>
            <a:ext cx="3429000" cy="142875"/>
          </a:xfrm>
          <a:prstGeom prst="rect">
            <a:avLst/>
          </a:prstGeom>
          <a:noFill/>
          <a:ln/>
        </p:spPr>
        <p:txBody>
          <a:bodyPr wrap="square" lIns="0" tIns="0" rIns="0" bIns="0" rtlCol="0" anchor="t"/>
          <a:lstStyle/>
          <a:p>
            <a:pPr algn="l" indent="0" marL="0">
              <a:lnSpc>
                <a:spcPts val="1072"/>
              </a:lnSpc>
              <a:buNone/>
            </a:pPr>
            <a:r>
              <a:rPr lang="en-US" sz="998" b="1" dirty="0">
                <a:solidFill>
                  <a:srgbClr val="16161D">
                    <a:alpha val="99000"/>
                  </a:srgbClr>
                </a:solidFill>
                <a:latin typeface="Goudy Trajan" pitchFamily="34" charset="0"/>
                <a:ea typeface="Goudy Trajan" pitchFamily="34" charset="-122"/>
                <a:cs typeface="Goudy Trajan" pitchFamily="34" charset="-120"/>
              </a:rPr>
              <a:t>SOMMAIRE</a:t>
            </a:r>
            <a:endParaRPr lang="en-US" sz="998" dirty="0"/>
          </a:p>
        </p:txBody>
      </p:sp>
      <p:sp>
        <p:nvSpPr>
          <p:cNvPr id="11" name="Shape 9"/>
          <p:cNvSpPr/>
          <p:nvPr/>
        </p:nvSpPr>
        <p:spPr>
          <a:xfrm rot="5400000">
            <a:off x="2000250" y="2571750"/>
            <a:ext cx="5143500" cy="0"/>
          </a:xfrm>
          <a:prstGeom prst="line">
            <a:avLst/>
          </a:prstGeom>
          <a:noFill/>
          <a:ln w="13573">
            <a:solidFill>
              <a:srgbClr val="88888C">
                <a:alpha val="30000"/>
              </a:srgbClr>
            </a:solidFill>
            <a:prstDash val="solid"/>
          </a:ln>
        </p:spPr>
      </p:sp>
      <p:sp>
        <p:nvSpPr>
          <p:cNvPr id="12" name="Shape 10"/>
          <p:cNvSpPr/>
          <p:nvPr/>
        </p:nvSpPr>
        <p:spPr>
          <a:xfrm>
            <a:off x="476250" y="4829175"/>
            <a:ext cx="8191500" cy="152400"/>
          </a:xfrm>
          <a:prstGeom prst="rect">
            <a:avLst/>
          </a:prstGeom>
          <a:noFill/>
          <a:ln/>
        </p:spPr>
      </p:sp>
      <p:sp>
        <p:nvSpPr>
          <p:cNvPr id="13" name="Text 11"/>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14" name="Text 12"/>
          <p:cNvSpPr/>
          <p:nvPr/>
        </p:nvSpPr>
        <p:spPr>
          <a:xfrm>
            <a:off x="8605838" y="4829175"/>
            <a:ext cx="61912"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2</a:t>
            </a:r>
            <a:endParaRPr lang="en-US" sz="74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1375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rcRect l="0" r="0" t="0" b="0"/>
          <a:stretch/>
        </p:blipFill>
        <p:spPr>
          <a:xfrm>
            <a:off x="4619625" y="1314450"/>
            <a:ext cx="276225" cy="175354"/>
          </a:xfrm>
          <a:prstGeom prst="rect">
            <a:avLst/>
          </a:prstGeom>
        </p:spPr>
      </p:pic>
      <p:sp>
        <p:nvSpPr>
          <p:cNvPr id="4" name="Shape 0"/>
          <p:cNvSpPr/>
          <p:nvPr/>
        </p:nvSpPr>
        <p:spPr>
          <a:xfrm>
            <a:off x="5248275" y="1181100"/>
            <a:ext cx="3633788" cy="2781300"/>
          </a:xfrm>
          <a:prstGeom prst="rect">
            <a:avLst/>
          </a:prstGeom>
          <a:noFill/>
          <a:ln/>
        </p:spPr>
      </p:sp>
      <p:sp>
        <p:nvSpPr>
          <p:cNvPr id="5" name="Text 1"/>
          <p:cNvSpPr/>
          <p:nvPr/>
        </p:nvSpPr>
        <p:spPr>
          <a:xfrm>
            <a:off x="5248275" y="1181100"/>
            <a:ext cx="1566863"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Introduction</a:t>
            </a:r>
            <a:endParaRPr lang="en-US" sz="2138" dirty="0"/>
          </a:p>
        </p:txBody>
      </p:sp>
      <p:sp>
        <p:nvSpPr>
          <p:cNvPr id="6" name="Text 2"/>
          <p:cNvSpPr/>
          <p:nvPr/>
        </p:nvSpPr>
        <p:spPr>
          <a:xfrm>
            <a:off x="5248275" y="1790700"/>
            <a:ext cx="3038475"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NewDEV Maroc</a:t>
            </a:r>
            <a:endParaRPr lang="en-US" sz="2138" dirty="0"/>
          </a:p>
        </p:txBody>
      </p:sp>
      <p:sp>
        <p:nvSpPr>
          <p:cNvPr id="7" name="Text 3"/>
          <p:cNvSpPr/>
          <p:nvPr/>
        </p:nvSpPr>
        <p:spPr>
          <a:xfrm>
            <a:off x="5248275" y="2400300"/>
            <a:ext cx="2805113"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Analyse &amp; Conception</a:t>
            </a:r>
            <a:endParaRPr lang="en-US" sz="2138" dirty="0"/>
          </a:p>
        </p:txBody>
      </p:sp>
      <p:sp>
        <p:nvSpPr>
          <p:cNvPr id="8" name="Text 4"/>
          <p:cNvSpPr/>
          <p:nvPr/>
        </p:nvSpPr>
        <p:spPr>
          <a:xfrm>
            <a:off x="5248275" y="3009900"/>
            <a:ext cx="1371600"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Réalisation</a:t>
            </a:r>
            <a:endParaRPr lang="en-US" sz="2138" dirty="0"/>
          </a:p>
        </p:txBody>
      </p:sp>
      <p:sp>
        <p:nvSpPr>
          <p:cNvPr id="9" name="Text 5"/>
          <p:cNvSpPr/>
          <p:nvPr/>
        </p:nvSpPr>
        <p:spPr>
          <a:xfrm>
            <a:off x="5248275" y="3619500"/>
            <a:ext cx="3633788"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Démonstration &amp; Conclusion</a:t>
            </a:r>
            <a:endParaRPr lang="en-US" sz="2138" dirty="0"/>
          </a:p>
        </p:txBody>
      </p:sp>
      <p:sp>
        <p:nvSpPr>
          <p:cNvPr id="10" name="Text 6"/>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FFFFFF">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11" name="Text 7"/>
          <p:cNvSpPr/>
          <p:nvPr/>
        </p:nvSpPr>
        <p:spPr>
          <a:xfrm>
            <a:off x="8601075" y="4829175"/>
            <a:ext cx="66675"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FFFFFF">
                    <a:alpha val="99000"/>
                  </a:srgbClr>
                </a:solidFill>
                <a:latin typeface="Inter" pitchFamily="34" charset="0"/>
                <a:ea typeface="Inter" pitchFamily="34" charset="-122"/>
                <a:cs typeface="Inter" pitchFamily="34" charset="-120"/>
              </a:rPr>
              <a:t>3</a:t>
            </a:r>
            <a:endParaRPr lang="en-US" sz="748" dirty="0"/>
          </a:p>
        </p:txBody>
      </p:sp>
      <p:sp>
        <p:nvSpPr>
          <p:cNvPr id="12" name="Text 8"/>
          <p:cNvSpPr/>
          <p:nvPr/>
        </p:nvSpPr>
        <p:spPr>
          <a:xfrm>
            <a:off x="476250" y="357188"/>
            <a:ext cx="1085850" cy="200025"/>
          </a:xfrm>
          <a:prstGeom prst="rect">
            <a:avLst/>
          </a:prstGeom>
          <a:noFill/>
          <a:ln/>
        </p:spPr>
        <p:txBody>
          <a:bodyPr wrap="square" lIns="0" tIns="0" rIns="0" bIns="0" rtlCol="0" anchor="ctr"/>
          <a:lstStyle/>
          <a:p>
            <a:pPr algn="l" indent="0" marL="0">
              <a:lnSpc>
                <a:spcPts val="1496"/>
              </a:lnSpc>
              <a:buNone/>
            </a:pPr>
            <a:r>
              <a:rPr lang="en-US" sz="998" b="1" spc="-22" kern="0" dirty="0">
                <a:solidFill>
                  <a:srgbClr val="FFFFFF">
                    <a:alpha val="99000"/>
                  </a:srgbClr>
                </a:solidFill>
                <a:latin typeface="Goudy Trajan" pitchFamily="34" charset="0"/>
                <a:ea typeface="Goudy Trajan" pitchFamily="34" charset="-122"/>
                <a:cs typeface="Goudy Trajan" pitchFamily="34" charset="-120"/>
              </a:rPr>
              <a:t>Introduction</a:t>
            </a:r>
            <a:endParaRPr lang="en-US" sz="998"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14375" y="935831"/>
            <a:ext cx="3714750" cy="3276600"/>
          </a:xfrm>
          <a:prstGeom prst="rect">
            <a:avLst/>
          </a:prstGeom>
          <a:noFill/>
          <a:ln/>
        </p:spPr>
      </p:sp>
      <p:sp>
        <p:nvSpPr>
          <p:cNvPr id="3" name="Text 1"/>
          <p:cNvSpPr/>
          <p:nvPr/>
        </p:nvSpPr>
        <p:spPr>
          <a:xfrm>
            <a:off x="714375" y="935831"/>
            <a:ext cx="3714750" cy="381000"/>
          </a:xfrm>
          <a:prstGeom prst="rect">
            <a:avLst/>
          </a:prstGeom>
          <a:noFill/>
          <a:ln/>
        </p:spPr>
        <p:txBody>
          <a:bodyPr wrap="square" lIns="0" tIns="0" rIns="0" bIns="0" rtlCol="0" anchor="t"/>
          <a:lstStyle/>
          <a:p>
            <a:pPr algn="l" indent="0" marL="0">
              <a:lnSpc>
                <a:spcPts val="2850"/>
              </a:lnSpc>
              <a:buNone/>
            </a:pPr>
            <a:r>
              <a:rPr lang="en-US" sz="2850" spc="-63" kern="0" dirty="0">
                <a:solidFill>
                  <a:srgbClr val="141414">
                    <a:alpha val="99000"/>
                  </a:srgbClr>
                </a:solidFill>
                <a:latin typeface="DM Serif Text" pitchFamily="34" charset="0"/>
                <a:ea typeface="DM Serif Text" pitchFamily="34" charset="-122"/>
                <a:cs typeface="DM Serif Text" pitchFamily="34" charset="-120"/>
              </a:rPr>
              <a:t>Contexte du Projet</a:t>
            </a:r>
            <a:endParaRPr lang="en-US" sz="2850" dirty="0"/>
          </a:p>
        </p:txBody>
      </p:sp>
      <p:sp>
        <p:nvSpPr>
          <p:cNvPr id="4" name="Text 2"/>
          <p:cNvSpPr/>
          <p:nvPr/>
        </p:nvSpPr>
        <p:spPr>
          <a:xfrm>
            <a:off x="714375" y="1550194"/>
            <a:ext cx="3714750" cy="2662238"/>
          </a:xfrm>
          <a:prstGeom prst="rect">
            <a:avLst/>
          </a:prstGeom>
          <a:noFill/>
          <a:ln/>
        </p:spPr>
        <p:txBody>
          <a:bodyPr wrap="square" lIns="0" tIns="0" rIns="0" bIns="0" rtlCol="0" anchor="t"/>
          <a:lstStyle/>
          <a:p>
            <a:pPr algn="l"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De nos jours, l'informatisation transforme les méthodes de travail dans le monde des entreprises, les tâches autrefois longues se font désormais depuis une interface unique et la gestion des ressources humaines suit ce mouvement.  Mais dans les PME, ces processus de Rh restent souvent manuels :</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La gestion administrative repose encore sur des outils manuels ou dispersés</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les employés sans autonomie, ils doivent de solliciter l'administration pour chaque demande.</a:t>
            </a:r>
            <a:endParaRPr lang="en-US" sz="1140" dirty="0"/>
          </a:p>
        </p:txBody>
      </p:sp>
      <p:sp>
        <p:nvSpPr>
          <p:cNvPr id="5" name="Text 3"/>
          <p:cNvSpPr/>
          <p:nvPr/>
        </p:nvSpPr>
        <p:spPr>
          <a:xfrm>
            <a:off x="476250" y="357188"/>
            <a:ext cx="1085850" cy="200025"/>
          </a:xfrm>
          <a:prstGeom prst="rect">
            <a:avLst/>
          </a:prstGeom>
          <a:noFill/>
          <a:ln/>
        </p:spPr>
        <p:txBody>
          <a:bodyPr wrap="square" lIns="0" tIns="0" rIns="0" bIns="0" rtlCol="0" anchor="ctr"/>
          <a:lstStyle/>
          <a:p>
            <a:pPr algn="l" indent="0" marL="0">
              <a:lnSpc>
                <a:spcPts val="1496"/>
              </a:lnSpc>
              <a:buNone/>
            </a:pPr>
            <a:r>
              <a:rPr lang="en-US" sz="998" b="1" spc="-22" kern="0" dirty="0">
                <a:solidFill>
                  <a:srgbClr val="888888">
                    <a:alpha val="99000"/>
                  </a:srgbClr>
                </a:solidFill>
                <a:latin typeface="Goudy Trajan" pitchFamily="34" charset="0"/>
                <a:ea typeface="Goudy Trajan" pitchFamily="34" charset="-122"/>
                <a:cs typeface="Goudy Trajan" pitchFamily="34" charset="-120"/>
              </a:rPr>
              <a:t>Introduction</a:t>
            </a:r>
            <a:endParaRPr lang="en-US" sz="998" dirty="0"/>
          </a:p>
        </p:txBody>
      </p:sp>
      <p:sp>
        <p:nvSpPr>
          <p:cNvPr id="6" name="Shape 4"/>
          <p:cNvSpPr/>
          <p:nvPr/>
        </p:nvSpPr>
        <p:spPr>
          <a:xfrm>
            <a:off x="476250" y="4829175"/>
            <a:ext cx="8191500" cy="152400"/>
          </a:xfrm>
          <a:prstGeom prst="rect">
            <a:avLst/>
          </a:prstGeom>
          <a:noFill/>
          <a:ln/>
        </p:spPr>
      </p:sp>
      <p:sp>
        <p:nvSpPr>
          <p:cNvPr id="7" name="Text 5"/>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8" name="Text 6"/>
          <p:cNvSpPr/>
          <p:nvPr/>
        </p:nvSpPr>
        <p:spPr>
          <a:xfrm>
            <a:off x="8601075" y="4829175"/>
            <a:ext cx="66675"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4</a:t>
            </a:r>
            <a:endParaRPr lang="en-US" sz="748" dirty="0"/>
          </a:p>
        </p:txBody>
      </p:sp>
      <p:pic>
        <p:nvPicPr>
          <p:cNvPr id="9" name="Image 0" descr="preencoded.png">    </p:cNvPr>
          <p:cNvPicPr>
            <a:picLocks noChangeAspect="1"/>
          </p:cNvPicPr>
          <p:nvPr/>
        </p:nvPicPr>
        <p:blipFill>
          <a:blip r:embed="rId1"/>
          <a:srcRect l="0" r="0" t="0" b="0"/>
          <a:stretch/>
        </p:blipFill>
        <p:spPr>
          <a:xfrm>
            <a:off x="4729163" y="790575"/>
            <a:ext cx="4176712" cy="35671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1375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rcRect l="0" r="0" t="0" b="0"/>
          <a:stretch/>
        </p:blipFill>
        <p:spPr>
          <a:xfrm>
            <a:off x="4619625" y="1943100"/>
            <a:ext cx="276225" cy="175354"/>
          </a:xfrm>
          <a:prstGeom prst="rect">
            <a:avLst/>
          </a:prstGeom>
        </p:spPr>
      </p:pic>
      <p:sp>
        <p:nvSpPr>
          <p:cNvPr id="4" name="Shape 0"/>
          <p:cNvSpPr/>
          <p:nvPr/>
        </p:nvSpPr>
        <p:spPr>
          <a:xfrm>
            <a:off x="5248275" y="1181100"/>
            <a:ext cx="3633788" cy="2781300"/>
          </a:xfrm>
          <a:prstGeom prst="rect">
            <a:avLst/>
          </a:prstGeom>
          <a:noFill/>
          <a:ln/>
        </p:spPr>
      </p:sp>
      <p:sp>
        <p:nvSpPr>
          <p:cNvPr id="5" name="Text 1"/>
          <p:cNvSpPr/>
          <p:nvPr/>
        </p:nvSpPr>
        <p:spPr>
          <a:xfrm>
            <a:off x="5248275" y="1181100"/>
            <a:ext cx="1566863"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Introduction</a:t>
            </a:r>
            <a:endParaRPr lang="en-US" sz="2138" dirty="0"/>
          </a:p>
        </p:txBody>
      </p:sp>
      <p:sp>
        <p:nvSpPr>
          <p:cNvPr id="6" name="Text 2"/>
          <p:cNvSpPr/>
          <p:nvPr/>
        </p:nvSpPr>
        <p:spPr>
          <a:xfrm>
            <a:off x="5248275" y="1790700"/>
            <a:ext cx="3038475"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NewDev Maroc</a:t>
            </a:r>
            <a:endParaRPr lang="en-US" sz="2138" dirty="0"/>
          </a:p>
        </p:txBody>
      </p:sp>
      <p:sp>
        <p:nvSpPr>
          <p:cNvPr id="7" name="Text 3"/>
          <p:cNvSpPr/>
          <p:nvPr/>
        </p:nvSpPr>
        <p:spPr>
          <a:xfrm>
            <a:off x="5248275" y="2400300"/>
            <a:ext cx="2805113"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Analyse &amp; Conception</a:t>
            </a:r>
            <a:endParaRPr lang="en-US" sz="2138" dirty="0"/>
          </a:p>
        </p:txBody>
      </p:sp>
      <p:sp>
        <p:nvSpPr>
          <p:cNvPr id="8" name="Text 4"/>
          <p:cNvSpPr/>
          <p:nvPr/>
        </p:nvSpPr>
        <p:spPr>
          <a:xfrm>
            <a:off x="5248275" y="3009900"/>
            <a:ext cx="1371600"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Réalisation</a:t>
            </a:r>
            <a:endParaRPr lang="en-US" sz="2138" dirty="0"/>
          </a:p>
        </p:txBody>
      </p:sp>
      <p:sp>
        <p:nvSpPr>
          <p:cNvPr id="9" name="Text 5"/>
          <p:cNvSpPr/>
          <p:nvPr/>
        </p:nvSpPr>
        <p:spPr>
          <a:xfrm>
            <a:off x="5248275" y="3619500"/>
            <a:ext cx="3633788"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Démonstration &amp; Conclusion</a:t>
            </a:r>
            <a:endParaRPr lang="en-US" sz="2138" dirty="0"/>
          </a:p>
        </p:txBody>
      </p:sp>
      <p:sp>
        <p:nvSpPr>
          <p:cNvPr id="10" name="Text 6"/>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FFFFFF">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11" name="Text 7"/>
          <p:cNvSpPr/>
          <p:nvPr/>
        </p:nvSpPr>
        <p:spPr>
          <a:xfrm>
            <a:off x="8605838" y="4829175"/>
            <a:ext cx="61912"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FFFFFF">
                    <a:alpha val="99000"/>
                  </a:srgbClr>
                </a:solidFill>
                <a:latin typeface="Inter" pitchFamily="34" charset="0"/>
                <a:ea typeface="Inter" pitchFamily="34" charset="-122"/>
                <a:cs typeface="Inter" pitchFamily="34" charset="-120"/>
              </a:rPr>
              <a:t>5</a:t>
            </a:r>
            <a:endParaRPr lang="en-US" sz="748" dirty="0"/>
          </a:p>
        </p:txBody>
      </p:sp>
      <p:sp>
        <p:nvSpPr>
          <p:cNvPr id="12" name="Text 8"/>
          <p:cNvSpPr/>
          <p:nvPr/>
        </p:nvSpPr>
        <p:spPr>
          <a:xfrm>
            <a:off x="476250" y="357188"/>
            <a:ext cx="1143000" cy="200025"/>
          </a:xfrm>
          <a:prstGeom prst="rect">
            <a:avLst/>
          </a:prstGeom>
          <a:noFill/>
          <a:ln/>
        </p:spPr>
        <p:txBody>
          <a:bodyPr wrap="square" lIns="0" tIns="0" rIns="0" bIns="0" rtlCol="0" anchor="ctr"/>
          <a:lstStyle/>
          <a:p>
            <a:pPr algn="l" indent="0" marL="0">
              <a:lnSpc>
                <a:spcPts val="1496"/>
              </a:lnSpc>
              <a:buNone/>
            </a:pPr>
            <a:r>
              <a:rPr lang="en-US" sz="998" b="1" spc="-22" kern="0" dirty="0">
                <a:solidFill>
                  <a:srgbClr val="FFFFFF">
                    <a:alpha val="99000"/>
                  </a:srgbClr>
                </a:solidFill>
                <a:latin typeface="Goudy Trajan" pitchFamily="34" charset="0"/>
                <a:ea typeface="Goudy Trajan" pitchFamily="34" charset="-122"/>
                <a:cs typeface="Goudy Trajan" pitchFamily="34" charset="-120"/>
              </a:rPr>
              <a:t>NewDev maroc</a:t>
            </a:r>
            <a:endParaRPr lang="en-US" sz="99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14875" y="-4762"/>
            <a:ext cx="4429125" cy="5148263"/>
          </a:xfrm>
          <a:prstGeom prst="rect">
            <a:avLst/>
          </a:prstGeom>
          <a:solidFill>
            <a:srgbClr val="EFEFEF"/>
          </a:solidFill>
          <a:ln/>
        </p:spPr>
      </p:sp>
      <p:sp>
        <p:nvSpPr>
          <p:cNvPr id="3" name="Shape 1"/>
          <p:cNvSpPr/>
          <p:nvPr/>
        </p:nvSpPr>
        <p:spPr>
          <a:xfrm>
            <a:off x="714375" y="1257300"/>
            <a:ext cx="3714750" cy="2633663"/>
          </a:xfrm>
          <a:prstGeom prst="rect">
            <a:avLst/>
          </a:prstGeom>
          <a:noFill/>
          <a:ln/>
        </p:spPr>
      </p:sp>
      <p:sp>
        <p:nvSpPr>
          <p:cNvPr id="4" name="Text 2"/>
          <p:cNvSpPr/>
          <p:nvPr/>
        </p:nvSpPr>
        <p:spPr>
          <a:xfrm>
            <a:off x="714375" y="1257300"/>
            <a:ext cx="3714750" cy="428625"/>
          </a:xfrm>
          <a:prstGeom prst="rect">
            <a:avLst/>
          </a:prstGeom>
          <a:noFill/>
          <a:ln/>
        </p:spPr>
        <p:txBody>
          <a:bodyPr wrap="square" lIns="0" tIns="0" rIns="0" bIns="0" rtlCol="0" anchor="t"/>
          <a:lstStyle/>
          <a:p>
            <a:pPr algn="l"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NewDev Maroc</a:t>
            </a:r>
            <a:endParaRPr lang="en-US" sz="3206" dirty="0"/>
          </a:p>
        </p:txBody>
      </p:sp>
      <p:sp>
        <p:nvSpPr>
          <p:cNvPr id="5" name="Text 3"/>
          <p:cNvSpPr/>
          <p:nvPr/>
        </p:nvSpPr>
        <p:spPr>
          <a:xfrm>
            <a:off x="714375" y="1843088"/>
            <a:ext cx="3371850" cy="2047875"/>
          </a:xfrm>
          <a:prstGeom prst="rect">
            <a:avLst/>
          </a:prstGeom>
          <a:noFill/>
          <a:ln/>
        </p:spPr>
        <p:txBody>
          <a:bodyPr wrap="square" lIns="0" tIns="0" rIns="0" bIns="0" rtlCol="0" anchor="t"/>
          <a:lstStyle/>
          <a:p>
            <a:pPr algn="l"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Une agence de communication spécialisée dans la conception de solutions digitales comme : </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Développement des applications web, mobiles et logiciels sur mesure.</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La gestion des réseaux sociaux .</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La création d’identité graphique et la production audiovisuelle.</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Les prestations en marketing digital. </a:t>
            </a:r>
            <a:endParaRPr lang="en-US" sz="1140" dirty="0"/>
          </a:p>
        </p:txBody>
      </p:sp>
      <p:pic>
        <p:nvPicPr>
          <p:cNvPr id="6" name="Image 0" descr="preencoded.png">    </p:cNvPr>
          <p:cNvPicPr>
            <a:picLocks noChangeAspect="1"/>
          </p:cNvPicPr>
          <p:nvPr/>
        </p:nvPicPr>
        <p:blipFill>
          <a:blip r:embed="rId1"/>
          <a:srcRect l="0" r="0" t="0" b="0"/>
          <a:stretch/>
        </p:blipFill>
        <p:spPr>
          <a:xfrm>
            <a:off x="4429125" y="923925"/>
            <a:ext cx="4433888" cy="3343275"/>
          </a:xfrm>
          <a:prstGeom prst="rect">
            <a:avLst/>
          </a:prstGeom>
        </p:spPr>
      </p:pic>
      <p:sp>
        <p:nvSpPr>
          <p:cNvPr id="7" name="Text 4"/>
          <p:cNvSpPr/>
          <p:nvPr/>
        </p:nvSpPr>
        <p:spPr>
          <a:xfrm>
            <a:off x="7467600" y="4343400"/>
            <a:ext cx="1314450" cy="171450"/>
          </a:xfrm>
          <a:prstGeom prst="rect">
            <a:avLst/>
          </a:prstGeom>
          <a:noFill/>
          <a:ln/>
        </p:spPr>
        <p:txBody>
          <a:bodyPr wrap="square" lIns="0" tIns="0" rIns="0" bIns="0" rtlCol="0" anchor="t"/>
          <a:lstStyle/>
          <a:p>
            <a:pPr algn="r" indent="0" marL="0">
              <a:lnSpc>
                <a:spcPts val="1297"/>
              </a:lnSpc>
              <a:buNone/>
            </a:pPr>
            <a:r>
              <a:rPr lang="en-US" sz="926" dirty="0">
                <a:solidFill>
                  <a:srgbClr val="005E9D">
                    <a:alpha val="99000"/>
                  </a:srgbClr>
                </a:solidFill>
                <a:latin typeface="DM Sans" pitchFamily="34" charset="0"/>
                <a:ea typeface="DM Sans" pitchFamily="34" charset="-122"/>
                <a:cs typeface="DM Sans" pitchFamily="34" charset="-120"/>
              </a:rPr>
              <a:t>NewDEV Maroc, Bureau </a:t>
            </a:r>
            <a:endParaRPr lang="en-US" sz="926" dirty="0"/>
          </a:p>
        </p:txBody>
      </p:sp>
      <p:sp>
        <p:nvSpPr>
          <p:cNvPr id="8" name="Shape 5"/>
          <p:cNvSpPr/>
          <p:nvPr/>
        </p:nvSpPr>
        <p:spPr>
          <a:xfrm>
            <a:off x="476250" y="4829175"/>
            <a:ext cx="8191500" cy="152400"/>
          </a:xfrm>
          <a:prstGeom prst="rect">
            <a:avLst/>
          </a:prstGeom>
          <a:noFill/>
          <a:ln/>
        </p:spPr>
      </p:sp>
      <p:sp>
        <p:nvSpPr>
          <p:cNvPr id="9" name="Text 6"/>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10" name="Text 7"/>
          <p:cNvSpPr/>
          <p:nvPr/>
        </p:nvSpPr>
        <p:spPr>
          <a:xfrm>
            <a:off x="8601075" y="4829175"/>
            <a:ext cx="66675"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6</a:t>
            </a:r>
            <a:endParaRPr lang="en-US" sz="748" dirty="0"/>
          </a:p>
        </p:txBody>
      </p:sp>
      <p:sp>
        <p:nvSpPr>
          <p:cNvPr id="11" name="Text 8"/>
          <p:cNvSpPr/>
          <p:nvPr/>
        </p:nvSpPr>
        <p:spPr>
          <a:xfrm>
            <a:off x="476250" y="357188"/>
            <a:ext cx="1143000" cy="200025"/>
          </a:xfrm>
          <a:prstGeom prst="rect">
            <a:avLst/>
          </a:prstGeom>
          <a:noFill/>
          <a:ln/>
        </p:spPr>
        <p:txBody>
          <a:bodyPr wrap="square" lIns="0" tIns="0" rIns="0" bIns="0" rtlCol="0" anchor="ctr"/>
          <a:lstStyle/>
          <a:p>
            <a:pPr algn="l" indent="0" marL="0">
              <a:lnSpc>
                <a:spcPts val="1496"/>
              </a:lnSpc>
              <a:buNone/>
            </a:pPr>
            <a:r>
              <a:rPr lang="en-US" sz="998" b="1" spc="-22" kern="0" dirty="0">
                <a:solidFill>
                  <a:srgbClr val="888888">
                    <a:alpha val="99000"/>
                  </a:srgbClr>
                </a:solidFill>
                <a:latin typeface="Goudy Trajan" pitchFamily="34" charset="0"/>
                <a:ea typeface="Goudy Trajan" pitchFamily="34" charset="-122"/>
                <a:cs typeface="Goudy Trajan" pitchFamily="34" charset="-120"/>
              </a:rPr>
              <a:t>NEWDEV MAROC</a:t>
            </a:r>
            <a:endParaRPr lang="en-US" sz="99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14375" y="904875"/>
            <a:ext cx="3910013" cy="3338513"/>
          </a:xfrm>
          <a:prstGeom prst="rect">
            <a:avLst/>
          </a:prstGeom>
          <a:noFill/>
          <a:ln/>
        </p:spPr>
      </p:sp>
      <p:sp>
        <p:nvSpPr>
          <p:cNvPr id="3" name="Text 1"/>
          <p:cNvSpPr/>
          <p:nvPr/>
        </p:nvSpPr>
        <p:spPr>
          <a:xfrm>
            <a:off x="714375" y="904875"/>
            <a:ext cx="3910013" cy="381000"/>
          </a:xfrm>
          <a:prstGeom prst="rect">
            <a:avLst/>
          </a:prstGeom>
          <a:noFill/>
          <a:ln/>
        </p:spPr>
        <p:txBody>
          <a:bodyPr wrap="square" lIns="0" tIns="0" rIns="0" bIns="0" rtlCol="0" anchor="t"/>
          <a:lstStyle/>
          <a:p>
            <a:pPr algn="l" indent="0" marL="0">
              <a:lnSpc>
                <a:spcPts val="2850"/>
              </a:lnSpc>
              <a:buNone/>
            </a:pPr>
            <a:r>
              <a:rPr lang="en-US" sz="2850" spc="-63" kern="0" dirty="0">
                <a:solidFill>
                  <a:srgbClr val="141414">
                    <a:alpha val="99000"/>
                  </a:srgbClr>
                </a:solidFill>
                <a:latin typeface="DM Serif Text" pitchFamily="34" charset="0"/>
                <a:ea typeface="DM Serif Text" pitchFamily="34" charset="-122"/>
                <a:cs typeface="DM Serif Text" pitchFamily="34" charset="-120"/>
              </a:rPr>
              <a:t>Problématique</a:t>
            </a:r>
            <a:endParaRPr lang="en-US" sz="2850" dirty="0"/>
          </a:p>
        </p:txBody>
      </p:sp>
      <p:sp>
        <p:nvSpPr>
          <p:cNvPr id="4" name="Text 2"/>
          <p:cNvSpPr/>
          <p:nvPr/>
        </p:nvSpPr>
        <p:spPr>
          <a:xfrm>
            <a:off x="714375" y="1519238"/>
            <a:ext cx="3910013" cy="2724150"/>
          </a:xfrm>
          <a:prstGeom prst="rect">
            <a:avLst/>
          </a:prstGeom>
          <a:noFill/>
          <a:ln/>
        </p:spPr>
        <p:txBody>
          <a:bodyPr wrap="square" lIns="0" tIns="0" rIns="0" bIns="0" rtlCol="0" anchor="t"/>
          <a:lstStyle/>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NewDEV Maroc n'avait pas de système centralisé, le responsable RH gérait seul,</a:t>
            </a:r>
            <a:pPr algn="l" indent="0" marL="0">
              <a:lnSpc>
                <a:spcPts val="1539"/>
              </a:lnSpc>
              <a:buNone/>
            </a:pPr>
            <a:r>
              <a:rPr lang="en-US" sz="1140" i="1" dirty="0">
                <a:solidFill>
                  <a:srgbClr val="000000">
                    <a:alpha val="99000"/>
                  </a:srgbClr>
                </a:solidFill>
                <a:latin typeface="DM Sans" pitchFamily="34" charset="0"/>
                <a:ea typeface="DM Sans" pitchFamily="34" charset="-122"/>
                <a:cs typeface="DM Sans" pitchFamily="34" charset="-120"/>
              </a:rPr>
              <a:t> les dossiers du Employés, les congés, la paie et le matériel </a:t>
            </a:r>
            <a:pPr algn="l" indent="0" marL="0">
              <a:lnSpc>
                <a:spcPts val="1539"/>
              </a:lnSpc>
              <a:buNone/>
            </a:pPr>
            <a:r>
              <a:rPr lang="en-US" sz="1140" b="1" dirty="0">
                <a:solidFill>
                  <a:srgbClr val="000000">
                    <a:alpha val="99000"/>
                  </a:srgbClr>
                </a:solidFill>
                <a:latin typeface="DM Sans" pitchFamily="34" charset="0"/>
                <a:ea typeface="DM Sans" pitchFamily="34" charset="-122"/>
                <a:cs typeface="DM Sans" pitchFamily="34" charset="-120"/>
              </a:rPr>
              <a:t>manuellement</a:t>
            </a:r>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 ! Ce travail manuel prenait du temps et manquait de traçabilité.</a:t>
            </a:r>
            <a:endParaRPr lang="en-US" sz="1140" dirty="0"/>
          </a:p>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Ce qui pose la question suivante : </a:t>
            </a:r>
            <a:endParaRPr lang="en-US" sz="1140" dirty="0"/>
          </a:p>
          <a:p>
            <a:pPr algn="l" indent="0" marL="0">
              <a:lnSpc>
                <a:spcPts val="1587"/>
              </a:lnSpc>
              <a:buNone/>
            </a:pPr>
            <a:r>
              <a:rPr lang="en-US" sz="1176" b="1" dirty="0">
                <a:solidFill>
                  <a:srgbClr val="01375D">
                    <a:alpha val="99000"/>
                  </a:srgbClr>
                </a:solidFill>
                <a:latin typeface="DM Sans" pitchFamily="34" charset="0"/>
                <a:ea typeface="DM Sans" pitchFamily="34" charset="-122"/>
                <a:cs typeface="DM Sans" pitchFamily="34" charset="-120"/>
              </a:rPr>
              <a:t>Comment concevoir une plateforme de gestion RH adapté aux besoins opérationnels de NewDEV Maroc, capable d’automatiser les traitements courants et d’offrir aux employés un accès autonome à leurs informations au sein d’un système unifié ?</a:t>
            </a:r>
            <a:endParaRPr lang="en-US" sz="1140" dirty="0"/>
          </a:p>
        </p:txBody>
      </p:sp>
      <p:sp>
        <p:nvSpPr>
          <p:cNvPr id="5" name="Text 3"/>
          <p:cNvSpPr/>
          <p:nvPr/>
        </p:nvSpPr>
        <p:spPr>
          <a:xfrm>
            <a:off x="476250" y="357188"/>
            <a:ext cx="1143000" cy="200025"/>
          </a:xfrm>
          <a:prstGeom prst="rect">
            <a:avLst/>
          </a:prstGeom>
          <a:noFill/>
          <a:ln/>
        </p:spPr>
        <p:txBody>
          <a:bodyPr wrap="square" lIns="0" tIns="0" rIns="0" bIns="0" rtlCol="0" anchor="ctr"/>
          <a:lstStyle/>
          <a:p>
            <a:pPr algn="l" indent="0" marL="0">
              <a:lnSpc>
                <a:spcPts val="1496"/>
              </a:lnSpc>
              <a:buNone/>
            </a:pPr>
            <a:r>
              <a:rPr lang="en-US" sz="998" b="1" spc="-22" kern="0" dirty="0">
                <a:solidFill>
                  <a:srgbClr val="888888">
                    <a:alpha val="99000"/>
                  </a:srgbClr>
                </a:solidFill>
                <a:latin typeface="Goudy Trajan" pitchFamily="34" charset="0"/>
                <a:ea typeface="Goudy Trajan" pitchFamily="34" charset="-122"/>
                <a:cs typeface="Goudy Trajan" pitchFamily="34" charset="-120"/>
              </a:rPr>
              <a:t>NEWDEV MAROC</a:t>
            </a:r>
            <a:endParaRPr lang="en-US" sz="998" dirty="0"/>
          </a:p>
        </p:txBody>
      </p:sp>
      <p:sp>
        <p:nvSpPr>
          <p:cNvPr id="6" name="Shape 4"/>
          <p:cNvSpPr/>
          <p:nvPr/>
        </p:nvSpPr>
        <p:spPr>
          <a:xfrm>
            <a:off x="476250" y="4829175"/>
            <a:ext cx="8191500" cy="152400"/>
          </a:xfrm>
          <a:prstGeom prst="rect">
            <a:avLst/>
          </a:prstGeom>
          <a:noFill/>
          <a:ln/>
        </p:spPr>
      </p:sp>
      <p:sp>
        <p:nvSpPr>
          <p:cNvPr id="7" name="Text 5"/>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8" name="Text 6"/>
          <p:cNvSpPr/>
          <p:nvPr/>
        </p:nvSpPr>
        <p:spPr>
          <a:xfrm>
            <a:off x="8610600" y="4829175"/>
            <a:ext cx="57150"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7</a:t>
            </a:r>
            <a:endParaRPr lang="en-US" sz="748" dirty="0"/>
          </a:p>
        </p:txBody>
      </p:sp>
      <p:pic>
        <p:nvPicPr>
          <p:cNvPr id="9" name="Image 0" descr="preencoded.png">    </p:cNvPr>
          <p:cNvPicPr>
            <a:picLocks noChangeAspect="1"/>
          </p:cNvPicPr>
          <p:nvPr/>
        </p:nvPicPr>
        <p:blipFill>
          <a:blip r:embed="rId1"/>
          <a:srcRect l="0" r="0" t="0" b="0"/>
          <a:stretch/>
        </p:blipFill>
        <p:spPr>
          <a:xfrm>
            <a:off x="4695825" y="590550"/>
            <a:ext cx="3971925" cy="39671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1375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rcRect l="0" r="0" t="0" b="0"/>
          <a:stretch/>
        </p:blipFill>
        <p:spPr>
          <a:xfrm>
            <a:off x="4619625" y="2528888"/>
            <a:ext cx="276225" cy="175354"/>
          </a:xfrm>
          <a:prstGeom prst="rect">
            <a:avLst/>
          </a:prstGeom>
        </p:spPr>
      </p:pic>
      <p:sp>
        <p:nvSpPr>
          <p:cNvPr id="4" name="Shape 0"/>
          <p:cNvSpPr/>
          <p:nvPr/>
        </p:nvSpPr>
        <p:spPr>
          <a:xfrm>
            <a:off x="5248275" y="1181100"/>
            <a:ext cx="3633788" cy="2781300"/>
          </a:xfrm>
          <a:prstGeom prst="rect">
            <a:avLst/>
          </a:prstGeom>
          <a:noFill/>
          <a:ln/>
        </p:spPr>
      </p:sp>
      <p:sp>
        <p:nvSpPr>
          <p:cNvPr id="5" name="Text 1"/>
          <p:cNvSpPr/>
          <p:nvPr/>
        </p:nvSpPr>
        <p:spPr>
          <a:xfrm>
            <a:off x="5248275" y="1181100"/>
            <a:ext cx="1566863"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Introduction</a:t>
            </a:r>
            <a:endParaRPr lang="en-US" sz="2138" dirty="0"/>
          </a:p>
        </p:txBody>
      </p:sp>
      <p:sp>
        <p:nvSpPr>
          <p:cNvPr id="6" name="Text 2"/>
          <p:cNvSpPr/>
          <p:nvPr/>
        </p:nvSpPr>
        <p:spPr>
          <a:xfrm>
            <a:off x="5248275" y="1790700"/>
            <a:ext cx="3038475"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NewDev Maroc</a:t>
            </a:r>
            <a:endParaRPr lang="en-US" sz="2138" dirty="0"/>
          </a:p>
        </p:txBody>
      </p:sp>
      <p:sp>
        <p:nvSpPr>
          <p:cNvPr id="7" name="Text 3"/>
          <p:cNvSpPr/>
          <p:nvPr/>
        </p:nvSpPr>
        <p:spPr>
          <a:xfrm>
            <a:off x="5248275" y="2400300"/>
            <a:ext cx="2805113"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Analyse &amp; Conception</a:t>
            </a:r>
            <a:endParaRPr lang="en-US" sz="2138" dirty="0"/>
          </a:p>
        </p:txBody>
      </p:sp>
      <p:sp>
        <p:nvSpPr>
          <p:cNvPr id="8" name="Text 4"/>
          <p:cNvSpPr/>
          <p:nvPr/>
        </p:nvSpPr>
        <p:spPr>
          <a:xfrm>
            <a:off x="5248275" y="3009900"/>
            <a:ext cx="1371600"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Réalisation</a:t>
            </a:r>
            <a:endParaRPr lang="en-US" sz="2138" dirty="0"/>
          </a:p>
        </p:txBody>
      </p:sp>
      <p:sp>
        <p:nvSpPr>
          <p:cNvPr id="9" name="Text 5"/>
          <p:cNvSpPr/>
          <p:nvPr/>
        </p:nvSpPr>
        <p:spPr>
          <a:xfrm>
            <a:off x="5248275" y="3619500"/>
            <a:ext cx="3633788"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Démonstration &amp; Conclusion</a:t>
            </a:r>
            <a:endParaRPr lang="en-US" sz="2138" dirty="0"/>
          </a:p>
        </p:txBody>
      </p:sp>
      <p:sp>
        <p:nvSpPr>
          <p:cNvPr id="10" name="Text 6"/>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FFFFFF">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11" name="Text 7"/>
          <p:cNvSpPr/>
          <p:nvPr/>
        </p:nvSpPr>
        <p:spPr>
          <a:xfrm>
            <a:off x="8605838" y="4829175"/>
            <a:ext cx="61912"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FFFFFF">
                    <a:alpha val="99000"/>
                  </a:srgbClr>
                </a:solidFill>
                <a:latin typeface="Inter" pitchFamily="34" charset="0"/>
                <a:ea typeface="Inter" pitchFamily="34" charset="-122"/>
                <a:cs typeface="Inter" pitchFamily="34" charset="-120"/>
              </a:rPr>
              <a:t>8</a:t>
            </a:r>
            <a:endParaRPr lang="en-US" sz="748" dirty="0"/>
          </a:p>
        </p:txBody>
      </p:sp>
      <p:sp>
        <p:nvSpPr>
          <p:cNvPr id="12" name="Text 8"/>
          <p:cNvSpPr/>
          <p:nvPr/>
        </p:nvSpPr>
        <p:spPr>
          <a:xfrm>
            <a:off x="476250" y="357188"/>
            <a:ext cx="1657350" cy="200025"/>
          </a:xfrm>
          <a:prstGeom prst="rect">
            <a:avLst/>
          </a:prstGeom>
          <a:noFill/>
          <a:ln/>
        </p:spPr>
        <p:txBody>
          <a:bodyPr wrap="square" lIns="0" tIns="0" rIns="0" bIns="0" rtlCol="0" anchor="ctr"/>
          <a:lstStyle/>
          <a:p>
            <a:pPr algn="l" indent="0" marL="0">
              <a:lnSpc>
                <a:spcPts val="1496"/>
              </a:lnSpc>
              <a:buNone/>
            </a:pPr>
            <a:r>
              <a:rPr lang="en-US" sz="998" b="1" spc="-22" kern="0" dirty="0">
                <a:solidFill>
                  <a:srgbClr val="FFFFFF">
                    <a:alpha val="99000"/>
                  </a:srgbClr>
                </a:solidFill>
                <a:latin typeface="Goudy Trajan" pitchFamily="34" charset="0"/>
                <a:ea typeface="Goudy Trajan" pitchFamily="34" charset="-122"/>
                <a:cs typeface="Goudy Trajan" pitchFamily="34" charset="-120"/>
              </a:rPr>
              <a:t>Analyse &amp; Conception</a:t>
            </a:r>
            <a:endParaRPr lang="en-US" sz="99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4375" y="2143125"/>
            <a:ext cx="3162300" cy="857250"/>
          </a:xfrm>
          <a:prstGeom prst="rect">
            <a:avLst/>
          </a:prstGeom>
          <a:noFill/>
          <a:ln/>
        </p:spPr>
        <p:txBody>
          <a:bodyPr wrap="square" lIns="0" tIns="0" rIns="0" bIns="0" rtlCol="0" anchor="t"/>
          <a:lstStyle/>
          <a:p>
            <a:pPr algn="l"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Les Trois Acteurs du Système</a:t>
            </a:r>
            <a:endParaRPr lang="en-US" sz="3206" dirty="0"/>
          </a:p>
        </p:txBody>
      </p:sp>
      <p:sp>
        <p:nvSpPr>
          <p:cNvPr id="3" name="Shape 1"/>
          <p:cNvSpPr/>
          <p:nvPr/>
        </p:nvSpPr>
        <p:spPr>
          <a:xfrm>
            <a:off x="4286250" y="1176338"/>
            <a:ext cx="4143375" cy="3000375"/>
          </a:xfrm>
          <a:prstGeom prst="rect">
            <a:avLst/>
          </a:prstGeom>
          <a:noFill/>
          <a:ln/>
        </p:spPr>
      </p:sp>
      <p:sp>
        <p:nvSpPr>
          <p:cNvPr id="4" name="Shape 2"/>
          <p:cNvSpPr/>
          <p:nvPr/>
        </p:nvSpPr>
        <p:spPr>
          <a:xfrm>
            <a:off x="4286250" y="1147763"/>
            <a:ext cx="4143375" cy="1066800"/>
          </a:xfrm>
          <a:prstGeom prst="rect">
            <a:avLst/>
          </a:prstGeom>
          <a:noFill/>
          <a:ln/>
        </p:spPr>
      </p:sp>
      <p:sp>
        <p:nvSpPr>
          <p:cNvPr id="5" name="Shape 3"/>
          <p:cNvSpPr/>
          <p:nvPr/>
        </p:nvSpPr>
        <p:spPr>
          <a:xfrm>
            <a:off x="4286250" y="1147763"/>
            <a:ext cx="4143375" cy="357188"/>
          </a:xfrm>
          <a:prstGeom prst="rect">
            <a:avLst/>
          </a:prstGeom>
          <a:noFill/>
          <a:ln/>
        </p:spPr>
      </p:sp>
      <p:sp>
        <p:nvSpPr>
          <p:cNvPr id="6" name="Text 4"/>
          <p:cNvSpPr/>
          <p:nvPr/>
        </p:nvSpPr>
        <p:spPr>
          <a:xfrm>
            <a:off x="4286250" y="1147763"/>
            <a:ext cx="285750" cy="357188"/>
          </a:xfrm>
          <a:prstGeom prst="rect">
            <a:avLst/>
          </a:prstGeom>
          <a:noFill/>
          <a:ln/>
        </p:spPr>
        <p:txBody>
          <a:bodyPr wrap="square" lIns="0" tIns="0" rIns="0" bIns="0" rtlCol="0" anchor="t"/>
          <a:lstStyle/>
          <a:p>
            <a:pPr algn="l" indent="0" marL="0">
              <a:lnSpc>
                <a:spcPts val="2672"/>
              </a:lnSpc>
              <a:buNone/>
            </a:pPr>
            <a:r>
              <a:rPr lang="en-US" sz="2138" spc="-43" kern="0" dirty="0">
                <a:solidFill>
                  <a:srgbClr val="141414">
                    <a:alpha val="99000"/>
                  </a:srgbClr>
                </a:solidFill>
                <a:latin typeface="DM Serif Text" pitchFamily="34" charset="0"/>
                <a:ea typeface="DM Serif Text" pitchFamily="34" charset="-122"/>
                <a:cs typeface="DM Serif Text" pitchFamily="34" charset="-120"/>
              </a:rPr>
              <a:t>①</a:t>
            </a:r>
            <a:endParaRPr lang="en-US" sz="2138" dirty="0"/>
          </a:p>
        </p:txBody>
      </p:sp>
      <p:sp>
        <p:nvSpPr>
          <p:cNvPr id="7" name="Text 5"/>
          <p:cNvSpPr/>
          <p:nvPr/>
        </p:nvSpPr>
        <p:spPr>
          <a:xfrm>
            <a:off x="4714875" y="1147763"/>
            <a:ext cx="3714750" cy="357188"/>
          </a:xfrm>
          <a:prstGeom prst="rect">
            <a:avLst/>
          </a:prstGeom>
          <a:noFill/>
          <a:ln/>
        </p:spPr>
        <p:txBody>
          <a:bodyPr wrap="square" lIns="0" tIns="0" rIns="0" bIns="0" rtlCol="0" anchor="t"/>
          <a:lstStyle/>
          <a:p>
            <a:pPr algn="l" indent="0" marL="0">
              <a:lnSpc>
                <a:spcPts val="2672"/>
              </a:lnSpc>
              <a:buNone/>
            </a:pPr>
            <a:r>
              <a:rPr lang="en-US" sz="2138" spc="-43" kern="0" dirty="0">
                <a:solidFill>
                  <a:srgbClr val="136F64">
                    <a:alpha val="99000"/>
                  </a:srgbClr>
                </a:solidFill>
                <a:latin typeface="DM Serif Text" pitchFamily="34" charset="0"/>
                <a:ea typeface="DM Serif Text" pitchFamily="34" charset="-122"/>
                <a:cs typeface="DM Serif Text" pitchFamily="34" charset="-120"/>
              </a:rPr>
              <a:t>Propriétaire</a:t>
            </a:r>
            <a:endParaRPr lang="en-US" sz="2138" dirty="0"/>
          </a:p>
        </p:txBody>
      </p:sp>
      <p:sp>
        <p:nvSpPr>
          <p:cNvPr id="8" name="Text 6"/>
          <p:cNvSpPr/>
          <p:nvPr/>
        </p:nvSpPr>
        <p:spPr>
          <a:xfrm>
            <a:off x="4714875" y="1600200"/>
            <a:ext cx="3714750" cy="614363"/>
          </a:xfrm>
          <a:prstGeom prst="rect">
            <a:avLst/>
          </a:prstGeom>
          <a:noFill/>
          <a:ln/>
        </p:spPr>
        <p:txBody>
          <a:bodyPr wrap="square" lIns="0" tIns="0" rIns="0" bIns="0" rtlCol="0" anchor="t"/>
          <a:lstStyle/>
          <a:p>
            <a:pPr algn="l"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Dirigeant de l'entreprise disposant du niveau d'accès le plus élevé, gère les comptes, valide les congés, évalue les employés et supervise via le tableau de bord.</a:t>
            </a:r>
            <a:endParaRPr lang="en-US" sz="1140" dirty="0"/>
          </a:p>
        </p:txBody>
      </p:sp>
      <p:sp>
        <p:nvSpPr>
          <p:cNvPr id="9" name="Shape 7"/>
          <p:cNvSpPr/>
          <p:nvPr/>
        </p:nvSpPr>
        <p:spPr>
          <a:xfrm>
            <a:off x="4286250" y="2347913"/>
            <a:ext cx="4143375" cy="862013"/>
          </a:xfrm>
          <a:prstGeom prst="rect">
            <a:avLst/>
          </a:prstGeom>
          <a:noFill/>
          <a:ln/>
        </p:spPr>
      </p:sp>
      <p:sp>
        <p:nvSpPr>
          <p:cNvPr id="10" name="Shape 8"/>
          <p:cNvSpPr/>
          <p:nvPr/>
        </p:nvSpPr>
        <p:spPr>
          <a:xfrm>
            <a:off x="4286250" y="2347913"/>
            <a:ext cx="4143375" cy="357188"/>
          </a:xfrm>
          <a:prstGeom prst="rect">
            <a:avLst/>
          </a:prstGeom>
          <a:noFill/>
          <a:ln/>
        </p:spPr>
      </p:sp>
      <p:sp>
        <p:nvSpPr>
          <p:cNvPr id="11" name="Text 9"/>
          <p:cNvSpPr/>
          <p:nvPr/>
        </p:nvSpPr>
        <p:spPr>
          <a:xfrm>
            <a:off x="4286250" y="2347913"/>
            <a:ext cx="285750" cy="357188"/>
          </a:xfrm>
          <a:prstGeom prst="rect">
            <a:avLst/>
          </a:prstGeom>
          <a:noFill/>
          <a:ln/>
        </p:spPr>
        <p:txBody>
          <a:bodyPr wrap="square" lIns="0" tIns="0" rIns="0" bIns="0" rtlCol="0" anchor="t"/>
          <a:lstStyle/>
          <a:p>
            <a:pPr algn="l" indent="0" marL="0">
              <a:lnSpc>
                <a:spcPts val="2672"/>
              </a:lnSpc>
              <a:buNone/>
            </a:pPr>
            <a:r>
              <a:rPr lang="en-US" sz="2138" spc="-43" kern="0" dirty="0">
                <a:solidFill>
                  <a:srgbClr val="141414">
                    <a:alpha val="99000"/>
                  </a:srgbClr>
                </a:solidFill>
                <a:latin typeface="DM Serif Text" pitchFamily="34" charset="0"/>
                <a:ea typeface="DM Serif Text" pitchFamily="34" charset="-122"/>
                <a:cs typeface="DM Serif Text" pitchFamily="34" charset="-120"/>
              </a:rPr>
              <a:t>②</a:t>
            </a:r>
            <a:endParaRPr lang="en-US" sz="2138" dirty="0"/>
          </a:p>
        </p:txBody>
      </p:sp>
      <p:sp>
        <p:nvSpPr>
          <p:cNvPr id="12" name="Text 10"/>
          <p:cNvSpPr/>
          <p:nvPr/>
        </p:nvSpPr>
        <p:spPr>
          <a:xfrm>
            <a:off x="4714875" y="2347913"/>
            <a:ext cx="3714750" cy="357188"/>
          </a:xfrm>
          <a:prstGeom prst="rect">
            <a:avLst/>
          </a:prstGeom>
          <a:noFill/>
          <a:ln/>
        </p:spPr>
        <p:txBody>
          <a:bodyPr wrap="square" lIns="0" tIns="0" rIns="0" bIns="0" rtlCol="0" anchor="t"/>
          <a:lstStyle/>
          <a:p>
            <a:pPr algn="l" indent="0" marL="0">
              <a:lnSpc>
                <a:spcPts val="2672"/>
              </a:lnSpc>
              <a:buNone/>
            </a:pPr>
            <a:r>
              <a:rPr lang="en-US" sz="2138" spc="-43" kern="0" dirty="0">
                <a:solidFill>
                  <a:srgbClr val="136F64">
                    <a:alpha val="99000"/>
                  </a:srgbClr>
                </a:solidFill>
                <a:latin typeface="DM Serif Text" pitchFamily="34" charset="0"/>
                <a:ea typeface="DM Serif Text" pitchFamily="34" charset="-122"/>
                <a:cs typeface="DM Serif Text" pitchFamily="34" charset="-120"/>
              </a:rPr>
              <a:t>Responsable RH</a:t>
            </a:r>
            <a:endParaRPr lang="en-US" sz="2138" dirty="0"/>
          </a:p>
        </p:txBody>
      </p:sp>
      <p:sp>
        <p:nvSpPr>
          <p:cNvPr id="13" name="Text 11"/>
          <p:cNvSpPr/>
          <p:nvPr/>
        </p:nvSpPr>
        <p:spPr>
          <a:xfrm>
            <a:off x="4714875" y="2800350"/>
            <a:ext cx="3714750" cy="409575"/>
          </a:xfrm>
          <a:prstGeom prst="rect">
            <a:avLst/>
          </a:prstGeom>
          <a:noFill/>
          <a:ln/>
        </p:spPr>
        <p:txBody>
          <a:bodyPr wrap="square" lIns="0" tIns="0" rIns="0" bIns="0" rtlCol="0" anchor="t"/>
          <a:lstStyle/>
          <a:p>
            <a:pPr algn="l"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Gestionnaire administratif et également </a:t>
            </a:r>
            <a:pPr algn="l" indent="0" marL="0">
              <a:lnSpc>
                <a:spcPts val="1539"/>
              </a:lnSpc>
              <a:buNone/>
            </a:pPr>
            <a:r>
              <a:rPr lang="en-US" sz="1140" b="1" dirty="0">
                <a:solidFill>
                  <a:srgbClr val="141414">
                    <a:alpha val="99000"/>
                  </a:srgbClr>
                </a:solidFill>
                <a:latin typeface="DM Sans" pitchFamily="34" charset="0"/>
                <a:ea typeface="DM Sans" pitchFamily="34" charset="-122"/>
                <a:cs typeface="DM Sans" pitchFamily="34" charset="-120"/>
              </a:rPr>
              <a:t>employé.</a:t>
            </a:r>
            <a:pPr algn="l"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 Il gère les profiles, la paie, les pointages et l'inventaire IT.</a:t>
            </a:r>
            <a:endParaRPr lang="en-US" sz="1140" dirty="0"/>
          </a:p>
        </p:txBody>
      </p:sp>
      <p:sp>
        <p:nvSpPr>
          <p:cNvPr id="14" name="Shape 12"/>
          <p:cNvSpPr/>
          <p:nvPr/>
        </p:nvSpPr>
        <p:spPr>
          <a:xfrm>
            <a:off x="4286250" y="3343275"/>
            <a:ext cx="4143375" cy="862013"/>
          </a:xfrm>
          <a:prstGeom prst="rect">
            <a:avLst/>
          </a:prstGeom>
          <a:noFill/>
          <a:ln/>
        </p:spPr>
      </p:sp>
      <p:sp>
        <p:nvSpPr>
          <p:cNvPr id="15" name="Shape 13"/>
          <p:cNvSpPr/>
          <p:nvPr/>
        </p:nvSpPr>
        <p:spPr>
          <a:xfrm>
            <a:off x="4286250" y="3240881"/>
            <a:ext cx="4143375" cy="357188"/>
          </a:xfrm>
          <a:prstGeom prst="rect">
            <a:avLst/>
          </a:prstGeom>
          <a:noFill/>
          <a:ln/>
        </p:spPr>
      </p:sp>
      <p:sp>
        <p:nvSpPr>
          <p:cNvPr id="16" name="Text 14"/>
          <p:cNvSpPr/>
          <p:nvPr/>
        </p:nvSpPr>
        <p:spPr>
          <a:xfrm>
            <a:off x="4286250" y="3240881"/>
            <a:ext cx="304800" cy="357188"/>
          </a:xfrm>
          <a:prstGeom prst="rect">
            <a:avLst/>
          </a:prstGeom>
          <a:noFill/>
          <a:ln/>
        </p:spPr>
        <p:txBody>
          <a:bodyPr wrap="square" lIns="0" tIns="0" rIns="0" bIns="0" rtlCol="0" anchor="t"/>
          <a:lstStyle/>
          <a:p>
            <a:pPr algn="l" indent="0" marL="0">
              <a:lnSpc>
                <a:spcPts val="2672"/>
              </a:lnSpc>
              <a:buNone/>
            </a:pPr>
            <a:r>
              <a:rPr lang="en-US" sz="2138" spc="-43" kern="0" dirty="0">
                <a:solidFill>
                  <a:srgbClr val="141414">
                    <a:alpha val="99000"/>
                  </a:srgbClr>
                </a:solidFill>
                <a:latin typeface="DM Serif Text" pitchFamily="34" charset="0"/>
                <a:ea typeface="DM Serif Text" pitchFamily="34" charset="-122"/>
                <a:cs typeface="DM Serif Text" pitchFamily="34" charset="-120"/>
              </a:rPr>
              <a:t>③</a:t>
            </a:r>
            <a:endParaRPr lang="en-US" sz="2138" dirty="0"/>
          </a:p>
        </p:txBody>
      </p:sp>
      <p:sp>
        <p:nvSpPr>
          <p:cNvPr id="17" name="Text 15"/>
          <p:cNvSpPr/>
          <p:nvPr/>
        </p:nvSpPr>
        <p:spPr>
          <a:xfrm>
            <a:off x="4714875" y="3240881"/>
            <a:ext cx="3714750" cy="357188"/>
          </a:xfrm>
          <a:prstGeom prst="rect">
            <a:avLst/>
          </a:prstGeom>
          <a:noFill/>
          <a:ln/>
        </p:spPr>
        <p:txBody>
          <a:bodyPr wrap="square" lIns="0" tIns="0" rIns="0" bIns="0" rtlCol="0" anchor="t"/>
          <a:lstStyle/>
          <a:p>
            <a:pPr algn="l" indent="0" marL="0">
              <a:lnSpc>
                <a:spcPts val="2672"/>
              </a:lnSpc>
              <a:buNone/>
            </a:pPr>
            <a:r>
              <a:rPr lang="en-US" sz="2138" spc="-43" kern="0" dirty="0">
                <a:solidFill>
                  <a:srgbClr val="136F64">
                    <a:alpha val="99000"/>
                  </a:srgbClr>
                </a:solidFill>
                <a:latin typeface="DM Serif Text" pitchFamily="34" charset="0"/>
                <a:ea typeface="DM Serif Text" pitchFamily="34" charset="-122"/>
                <a:cs typeface="DM Serif Text" pitchFamily="34" charset="-120"/>
              </a:rPr>
              <a:t>Employé</a:t>
            </a:r>
            <a:endParaRPr lang="en-US" sz="2138" dirty="0"/>
          </a:p>
        </p:txBody>
      </p:sp>
      <p:sp>
        <p:nvSpPr>
          <p:cNvPr id="18" name="Text 16"/>
          <p:cNvSpPr/>
          <p:nvPr/>
        </p:nvSpPr>
        <p:spPr>
          <a:xfrm>
            <a:off x="4714875" y="3693319"/>
            <a:ext cx="3286125" cy="614363"/>
          </a:xfrm>
          <a:prstGeom prst="rect">
            <a:avLst/>
          </a:prstGeom>
          <a:noFill/>
          <a:ln/>
        </p:spPr>
        <p:txBody>
          <a:bodyPr wrap="square" lIns="0" tIns="0" rIns="0" bIns="0" rtlCol="0" anchor="t"/>
          <a:lstStyle/>
          <a:p>
            <a:pPr algn="l"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Salarié n'accédant qu'à ses propres données, il consulte son profil, ses congés, ses évaluations, sa paie et pointer  la presence.</a:t>
            </a:r>
            <a:endParaRPr lang="en-US" sz="1140" dirty="0"/>
          </a:p>
        </p:txBody>
      </p:sp>
      <p:sp>
        <p:nvSpPr>
          <p:cNvPr id="19" name="Shape 17"/>
          <p:cNvSpPr/>
          <p:nvPr/>
        </p:nvSpPr>
        <p:spPr>
          <a:xfrm>
            <a:off x="476250" y="357188"/>
            <a:ext cx="8191500" cy="4624388"/>
          </a:xfrm>
          <a:prstGeom prst="rect">
            <a:avLst/>
          </a:prstGeom>
          <a:noFill/>
          <a:ln/>
        </p:spPr>
      </p:sp>
      <p:sp>
        <p:nvSpPr>
          <p:cNvPr id="20" name="Text 18"/>
          <p:cNvSpPr/>
          <p:nvPr/>
        </p:nvSpPr>
        <p:spPr>
          <a:xfrm>
            <a:off x="476250" y="357188"/>
            <a:ext cx="8191500" cy="200025"/>
          </a:xfrm>
          <a:prstGeom prst="rect">
            <a:avLst/>
          </a:prstGeom>
          <a:noFill/>
          <a:ln/>
        </p:spPr>
        <p:txBody>
          <a:bodyPr wrap="square" lIns="0" tIns="0" rIns="0" bIns="0" rtlCol="0" anchor="ctr"/>
          <a:lstStyle/>
          <a:p>
            <a:pPr algn="l" indent="0" marL="0">
              <a:lnSpc>
                <a:spcPts val="1496"/>
              </a:lnSpc>
              <a:buNone/>
            </a:pPr>
            <a:r>
              <a:rPr lang="en-US" sz="998" b="1" spc="-22" kern="0" dirty="0">
                <a:solidFill>
                  <a:srgbClr val="888888">
                    <a:alpha val="99000"/>
                  </a:srgbClr>
                </a:solidFill>
                <a:latin typeface="Goudy Trajan" pitchFamily="34" charset="0"/>
                <a:ea typeface="Goudy Trajan" pitchFamily="34" charset="-122"/>
                <a:cs typeface="Goudy Trajan" pitchFamily="34" charset="-120"/>
              </a:rPr>
              <a:t>Analyse &amp; Conception</a:t>
            </a:r>
            <a:endParaRPr lang="en-US" sz="998" dirty="0"/>
          </a:p>
        </p:txBody>
      </p:sp>
      <p:sp>
        <p:nvSpPr>
          <p:cNvPr id="21" name="Shape 19"/>
          <p:cNvSpPr/>
          <p:nvPr/>
        </p:nvSpPr>
        <p:spPr>
          <a:xfrm>
            <a:off x="476250" y="4829175"/>
            <a:ext cx="8191500" cy="152400"/>
          </a:xfrm>
          <a:prstGeom prst="rect">
            <a:avLst/>
          </a:prstGeom>
          <a:noFill/>
          <a:ln/>
        </p:spPr>
      </p:sp>
      <p:sp>
        <p:nvSpPr>
          <p:cNvPr id="22" name="Text 20"/>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23" name="Text 21"/>
          <p:cNvSpPr/>
          <p:nvPr/>
        </p:nvSpPr>
        <p:spPr>
          <a:xfrm>
            <a:off x="8601075" y="4829175"/>
            <a:ext cx="66675"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9</a:t>
            </a:r>
            <a:endParaRPr lang="en-US" sz="748"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4375" y="595313"/>
            <a:ext cx="4157663" cy="428625"/>
          </a:xfrm>
          <a:prstGeom prst="rect">
            <a:avLst/>
          </a:prstGeom>
          <a:noFill/>
          <a:ln/>
        </p:spPr>
        <p:txBody>
          <a:bodyPr wrap="square" lIns="0" tIns="0" rIns="0" bIns="0" rtlCol="0" anchor="t"/>
          <a:lstStyle/>
          <a:p>
            <a:pPr algn="l"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Besoins fonctionnels</a:t>
            </a:r>
            <a:endParaRPr lang="en-US" sz="3206" dirty="0"/>
          </a:p>
        </p:txBody>
      </p:sp>
      <p:sp>
        <p:nvSpPr>
          <p:cNvPr id="3" name="Shape 1"/>
          <p:cNvSpPr/>
          <p:nvPr/>
        </p:nvSpPr>
        <p:spPr>
          <a:xfrm>
            <a:off x="714375" y="1452563"/>
            <a:ext cx="7715250" cy="1790700"/>
          </a:xfrm>
          <a:prstGeom prst="rect">
            <a:avLst/>
          </a:prstGeom>
          <a:noFill/>
          <a:ln/>
        </p:spPr>
      </p:sp>
      <p:sp>
        <p:nvSpPr>
          <p:cNvPr id="4" name="Shape 2"/>
          <p:cNvSpPr/>
          <p:nvPr/>
        </p:nvSpPr>
        <p:spPr>
          <a:xfrm>
            <a:off x="714375" y="1452563"/>
            <a:ext cx="2381250" cy="1585913"/>
          </a:xfrm>
          <a:prstGeom prst="rect">
            <a:avLst/>
          </a:prstGeom>
          <a:noFill/>
          <a:ln/>
        </p:spPr>
      </p:sp>
      <p:sp>
        <p:nvSpPr>
          <p:cNvPr id="5" name="Text 3"/>
          <p:cNvSpPr/>
          <p:nvPr/>
        </p:nvSpPr>
        <p:spPr>
          <a:xfrm>
            <a:off x="714375" y="1452563"/>
            <a:ext cx="2381250" cy="280988"/>
          </a:xfrm>
          <a:prstGeom prst="rect">
            <a:avLst/>
          </a:prstGeom>
          <a:noFill/>
          <a:ln/>
        </p:spPr>
        <p:txBody>
          <a:bodyPr wrap="square" lIns="0" tIns="0" rIns="0" bIns="0" rtlCol="0" anchor="t"/>
          <a:lstStyle/>
          <a:p>
            <a:pPr algn="l" indent="0" marL="0">
              <a:lnSpc>
                <a:spcPts val="2116"/>
              </a:lnSpc>
              <a:buNone/>
            </a:pPr>
            <a:r>
              <a:rPr lang="en-US" sz="1568" dirty="0">
                <a:solidFill>
                  <a:srgbClr val="005E9D">
                    <a:alpha val="99000"/>
                  </a:srgbClr>
                </a:solidFill>
                <a:latin typeface="DM Sans" pitchFamily="34" charset="0"/>
                <a:ea typeface="DM Sans" pitchFamily="34" charset="-122"/>
                <a:cs typeface="DM Sans" pitchFamily="34" charset="-120"/>
              </a:rPr>
              <a:t>Gestion des Comptes  </a:t>
            </a:r>
            <a:endParaRPr lang="en-US" sz="1568" dirty="0"/>
          </a:p>
        </p:txBody>
      </p:sp>
      <p:sp>
        <p:nvSpPr>
          <p:cNvPr id="6" name="Text 4"/>
          <p:cNvSpPr/>
          <p:nvPr/>
        </p:nvSpPr>
        <p:spPr>
          <a:xfrm>
            <a:off x="714375" y="1809750"/>
            <a:ext cx="2381250" cy="1228725"/>
          </a:xfrm>
          <a:prstGeom prst="rect">
            <a:avLst/>
          </a:prstGeom>
          <a:noFill/>
          <a:ln/>
        </p:spPr>
        <p:txBody>
          <a:bodyPr wrap="square" lIns="0" tIns="0" rIns="0" bIns="0" rtlCol="0" anchor="t"/>
          <a:lstStyle/>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Les utilisateurs se connecter et se déconnecter.</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RH ou Propriétaire modifier le rôle, activer/désactiver d’un compte utilisateur et réinitialiser manuellement le mot de passe </a:t>
            </a:r>
            <a:endParaRPr lang="en-US" sz="1140" dirty="0"/>
          </a:p>
        </p:txBody>
      </p:sp>
      <p:sp>
        <p:nvSpPr>
          <p:cNvPr id="7" name="Shape 5"/>
          <p:cNvSpPr/>
          <p:nvPr/>
        </p:nvSpPr>
        <p:spPr>
          <a:xfrm>
            <a:off x="3381375" y="1452563"/>
            <a:ext cx="2381250" cy="1790700"/>
          </a:xfrm>
          <a:prstGeom prst="rect">
            <a:avLst/>
          </a:prstGeom>
          <a:noFill/>
          <a:ln/>
        </p:spPr>
      </p:sp>
      <p:sp>
        <p:nvSpPr>
          <p:cNvPr id="8" name="Text 6"/>
          <p:cNvSpPr/>
          <p:nvPr/>
        </p:nvSpPr>
        <p:spPr>
          <a:xfrm>
            <a:off x="3381375" y="1452563"/>
            <a:ext cx="2381250" cy="280988"/>
          </a:xfrm>
          <a:prstGeom prst="rect">
            <a:avLst/>
          </a:prstGeom>
          <a:noFill/>
          <a:ln/>
        </p:spPr>
        <p:txBody>
          <a:bodyPr wrap="square" lIns="0" tIns="0" rIns="0" bIns="0" rtlCol="0" anchor="t"/>
          <a:lstStyle/>
          <a:p>
            <a:pPr algn="l" indent="0" marL="0">
              <a:lnSpc>
                <a:spcPts val="2116"/>
              </a:lnSpc>
              <a:buNone/>
            </a:pPr>
            <a:r>
              <a:rPr lang="en-US" sz="1568" dirty="0">
                <a:solidFill>
                  <a:srgbClr val="005E9D">
                    <a:alpha val="99000"/>
                  </a:srgbClr>
                </a:solidFill>
                <a:latin typeface="DM Sans" pitchFamily="34" charset="0"/>
                <a:ea typeface="DM Sans" pitchFamily="34" charset="-122"/>
                <a:cs typeface="DM Sans" pitchFamily="34" charset="-120"/>
              </a:rPr>
              <a:t>Gestion des Employés </a:t>
            </a:r>
            <a:endParaRPr lang="en-US" sz="1568" dirty="0"/>
          </a:p>
        </p:txBody>
      </p:sp>
      <p:sp>
        <p:nvSpPr>
          <p:cNvPr id="9" name="Text 7"/>
          <p:cNvSpPr/>
          <p:nvPr/>
        </p:nvSpPr>
        <p:spPr>
          <a:xfrm>
            <a:off x="3381375" y="1809750"/>
            <a:ext cx="2381250" cy="1433513"/>
          </a:xfrm>
          <a:prstGeom prst="rect">
            <a:avLst/>
          </a:prstGeom>
          <a:noFill/>
          <a:ln/>
        </p:spPr>
        <p:txBody>
          <a:bodyPr wrap="square" lIns="0" tIns="0" rIns="0" bIns="0" rtlCol="0" anchor="t"/>
          <a:lstStyle/>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RH crée et gère les profils, valide les modifications soumises par les employés. aussi consulter le pointage.</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Employé soumettent les demandes de modificaitons, et pointer leur presences.</a:t>
            </a:r>
            <a:endParaRPr lang="en-US" sz="1140" dirty="0"/>
          </a:p>
        </p:txBody>
      </p:sp>
      <p:sp>
        <p:nvSpPr>
          <p:cNvPr id="10" name="Shape 8"/>
          <p:cNvSpPr/>
          <p:nvPr/>
        </p:nvSpPr>
        <p:spPr>
          <a:xfrm>
            <a:off x="6048375" y="1452563"/>
            <a:ext cx="2381250" cy="1381125"/>
          </a:xfrm>
          <a:prstGeom prst="rect">
            <a:avLst/>
          </a:prstGeom>
          <a:noFill/>
          <a:ln/>
        </p:spPr>
      </p:sp>
      <p:sp>
        <p:nvSpPr>
          <p:cNvPr id="11" name="Text 9"/>
          <p:cNvSpPr/>
          <p:nvPr/>
        </p:nvSpPr>
        <p:spPr>
          <a:xfrm>
            <a:off x="6048375" y="1452563"/>
            <a:ext cx="2381250" cy="280988"/>
          </a:xfrm>
          <a:prstGeom prst="rect">
            <a:avLst/>
          </a:prstGeom>
          <a:noFill/>
          <a:ln/>
        </p:spPr>
        <p:txBody>
          <a:bodyPr wrap="square" lIns="0" tIns="0" rIns="0" bIns="0" rtlCol="0" anchor="t"/>
          <a:lstStyle/>
          <a:p>
            <a:pPr algn="l" indent="0" marL="0">
              <a:lnSpc>
                <a:spcPts val="2116"/>
              </a:lnSpc>
              <a:buNone/>
            </a:pPr>
            <a:r>
              <a:rPr lang="en-US" sz="1568" dirty="0">
                <a:solidFill>
                  <a:srgbClr val="005E9D">
                    <a:alpha val="99000"/>
                  </a:srgbClr>
                </a:solidFill>
                <a:latin typeface="DM Sans" pitchFamily="34" charset="0"/>
                <a:ea typeface="DM Sans" pitchFamily="34" charset="-122"/>
                <a:cs typeface="DM Sans" pitchFamily="34" charset="-120"/>
              </a:rPr>
              <a:t>Congés &amp; Absences</a:t>
            </a:r>
            <a:endParaRPr lang="en-US" sz="1568" dirty="0"/>
          </a:p>
        </p:txBody>
      </p:sp>
      <p:sp>
        <p:nvSpPr>
          <p:cNvPr id="12" name="Text 10"/>
          <p:cNvSpPr/>
          <p:nvPr/>
        </p:nvSpPr>
        <p:spPr>
          <a:xfrm>
            <a:off x="6048375" y="1809750"/>
            <a:ext cx="2381250" cy="1023938"/>
          </a:xfrm>
          <a:prstGeom prst="rect">
            <a:avLst/>
          </a:prstGeom>
          <a:noFill/>
          <a:ln/>
        </p:spPr>
        <p:txBody>
          <a:bodyPr wrap="square" lIns="0" tIns="0" rIns="0" bIns="0" rtlCol="0" anchor="t"/>
          <a:lstStyle/>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Employés soumettent leurs demandes.</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RH configure les types de congé. </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Propriétaire valide ou refuse.</a:t>
            </a:r>
            <a:endParaRPr lang="en-US" sz="1140" dirty="0"/>
          </a:p>
        </p:txBody>
      </p:sp>
      <p:sp>
        <p:nvSpPr>
          <p:cNvPr id="13" name="Shape 11"/>
          <p:cNvSpPr/>
          <p:nvPr/>
        </p:nvSpPr>
        <p:spPr>
          <a:xfrm>
            <a:off x="709613" y="3267075"/>
            <a:ext cx="7715250" cy="1452563"/>
          </a:xfrm>
          <a:prstGeom prst="rect">
            <a:avLst/>
          </a:prstGeom>
          <a:noFill/>
          <a:ln/>
        </p:spPr>
      </p:sp>
      <p:sp>
        <p:nvSpPr>
          <p:cNvPr id="14" name="Shape 12"/>
          <p:cNvSpPr/>
          <p:nvPr/>
        </p:nvSpPr>
        <p:spPr>
          <a:xfrm>
            <a:off x="709613" y="3267075"/>
            <a:ext cx="2381250" cy="1585913"/>
          </a:xfrm>
          <a:prstGeom prst="rect">
            <a:avLst/>
          </a:prstGeom>
          <a:noFill/>
          <a:ln/>
        </p:spPr>
      </p:sp>
      <p:sp>
        <p:nvSpPr>
          <p:cNvPr id="15" name="Text 13"/>
          <p:cNvSpPr/>
          <p:nvPr/>
        </p:nvSpPr>
        <p:spPr>
          <a:xfrm>
            <a:off x="709613" y="3267075"/>
            <a:ext cx="2381250" cy="280988"/>
          </a:xfrm>
          <a:prstGeom prst="rect">
            <a:avLst/>
          </a:prstGeom>
          <a:noFill/>
          <a:ln/>
        </p:spPr>
        <p:txBody>
          <a:bodyPr wrap="square" lIns="0" tIns="0" rIns="0" bIns="0" rtlCol="0" anchor="t"/>
          <a:lstStyle/>
          <a:p>
            <a:pPr algn="l" indent="0" marL="0">
              <a:lnSpc>
                <a:spcPts val="2116"/>
              </a:lnSpc>
              <a:buNone/>
            </a:pPr>
            <a:r>
              <a:rPr lang="en-US" sz="1568" dirty="0">
                <a:solidFill>
                  <a:srgbClr val="005E9D">
                    <a:alpha val="99000"/>
                  </a:srgbClr>
                </a:solidFill>
                <a:latin typeface="DM Sans" pitchFamily="34" charset="0"/>
                <a:ea typeface="DM Sans" pitchFamily="34" charset="-122"/>
                <a:cs typeface="DM Sans" pitchFamily="34" charset="-120"/>
              </a:rPr>
              <a:t>Évaluation de Performance</a:t>
            </a:r>
            <a:endParaRPr lang="en-US" sz="1568" dirty="0"/>
          </a:p>
        </p:txBody>
      </p:sp>
      <p:sp>
        <p:nvSpPr>
          <p:cNvPr id="16" name="Text 14"/>
          <p:cNvSpPr/>
          <p:nvPr/>
        </p:nvSpPr>
        <p:spPr>
          <a:xfrm>
            <a:off x="709613" y="3624263"/>
            <a:ext cx="2381250" cy="1228725"/>
          </a:xfrm>
          <a:prstGeom prst="rect">
            <a:avLst/>
          </a:prstGeom>
          <a:noFill/>
          <a:ln/>
        </p:spPr>
        <p:txBody>
          <a:bodyPr wrap="square" lIns="0" tIns="0" rIns="0" bIns="0" rtlCol="0" anchor="t"/>
          <a:lstStyle/>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Propriétaire définit les objectifs et note les employés</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Employés consulte ses résultats</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RH consulter les fiches d’évaluation   </a:t>
            </a:r>
            <a:endParaRPr lang="en-US" sz="1140" dirty="0"/>
          </a:p>
        </p:txBody>
      </p:sp>
      <p:sp>
        <p:nvSpPr>
          <p:cNvPr id="17" name="Shape 15"/>
          <p:cNvSpPr/>
          <p:nvPr/>
        </p:nvSpPr>
        <p:spPr>
          <a:xfrm>
            <a:off x="3376613" y="3267075"/>
            <a:ext cx="2381250" cy="1381125"/>
          </a:xfrm>
          <a:prstGeom prst="rect">
            <a:avLst/>
          </a:prstGeom>
          <a:noFill/>
          <a:ln/>
        </p:spPr>
      </p:sp>
      <p:sp>
        <p:nvSpPr>
          <p:cNvPr id="18" name="Text 16"/>
          <p:cNvSpPr/>
          <p:nvPr/>
        </p:nvSpPr>
        <p:spPr>
          <a:xfrm>
            <a:off x="3376613" y="3267075"/>
            <a:ext cx="2381250" cy="280988"/>
          </a:xfrm>
          <a:prstGeom prst="rect">
            <a:avLst/>
          </a:prstGeom>
          <a:noFill/>
          <a:ln/>
        </p:spPr>
        <p:txBody>
          <a:bodyPr wrap="square" lIns="0" tIns="0" rIns="0" bIns="0" rtlCol="0" anchor="t"/>
          <a:lstStyle/>
          <a:p>
            <a:pPr algn="l" indent="0" marL="0">
              <a:lnSpc>
                <a:spcPts val="2116"/>
              </a:lnSpc>
              <a:buNone/>
            </a:pPr>
            <a:r>
              <a:rPr lang="en-US" sz="1568" dirty="0">
                <a:solidFill>
                  <a:srgbClr val="005E9D">
                    <a:alpha val="99000"/>
                  </a:srgbClr>
                </a:solidFill>
                <a:latin typeface="DM Sans" pitchFamily="34" charset="0"/>
                <a:ea typeface="DM Sans" pitchFamily="34" charset="-122"/>
                <a:cs typeface="DM Sans" pitchFamily="34" charset="-120"/>
              </a:rPr>
              <a:t>Gestion de la  Paie</a:t>
            </a:r>
            <a:endParaRPr lang="en-US" sz="1568" dirty="0"/>
          </a:p>
        </p:txBody>
      </p:sp>
      <p:sp>
        <p:nvSpPr>
          <p:cNvPr id="19" name="Text 17"/>
          <p:cNvSpPr/>
          <p:nvPr/>
        </p:nvSpPr>
        <p:spPr>
          <a:xfrm>
            <a:off x="3376613" y="3624263"/>
            <a:ext cx="2381250" cy="1023938"/>
          </a:xfrm>
          <a:prstGeom prst="rect">
            <a:avLst/>
          </a:prstGeom>
          <a:noFill/>
          <a:ln/>
        </p:spPr>
        <p:txBody>
          <a:bodyPr wrap="square" lIns="0" tIns="0" rIns="0" bIns="0" rtlCol="0" anchor="t"/>
          <a:lstStyle/>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RH génère les bulletins de paie.</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Propriétaire consulte le coût global de la masse salariale.</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Employés télécharger ses bulletins de paie.</a:t>
            </a:r>
            <a:endParaRPr lang="en-US" sz="1140" dirty="0"/>
          </a:p>
        </p:txBody>
      </p:sp>
      <p:sp>
        <p:nvSpPr>
          <p:cNvPr id="20" name="Shape 18"/>
          <p:cNvSpPr/>
          <p:nvPr/>
        </p:nvSpPr>
        <p:spPr>
          <a:xfrm>
            <a:off x="6043613" y="3267075"/>
            <a:ext cx="2381250" cy="1176338"/>
          </a:xfrm>
          <a:prstGeom prst="rect">
            <a:avLst/>
          </a:prstGeom>
          <a:noFill/>
          <a:ln/>
        </p:spPr>
      </p:sp>
      <p:sp>
        <p:nvSpPr>
          <p:cNvPr id="21" name="Text 19"/>
          <p:cNvSpPr/>
          <p:nvPr/>
        </p:nvSpPr>
        <p:spPr>
          <a:xfrm>
            <a:off x="6043613" y="3267075"/>
            <a:ext cx="2381250" cy="280988"/>
          </a:xfrm>
          <a:prstGeom prst="rect">
            <a:avLst/>
          </a:prstGeom>
          <a:noFill/>
          <a:ln/>
        </p:spPr>
        <p:txBody>
          <a:bodyPr wrap="square" lIns="0" tIns="0" rIns="0" bIns="0" rtlCol="0" anchor="t"/>
          <a:lstStyle/>
          <a:p>
            <a:pPr algn="l" indent="0" marL="0">
              <a:lnSpc>
                <a:spcPts val="2116"/>
              </a:lnSpc>
              <a:buNone/>
            </a:pPr>
            <a:r>
              <a:rPr lang="en-US" sz="1568" dirty="0">
                <a:solidFill>
                  <a:srgbClr val="005E9D">
                    <a:alpha val="99000"/>
                  </a:srgbClr>
                </a:solidFill>
                <a:latin typeface="DM Sans" pitchFamily="34" charset="0"/>
                <a:ea typeface="DM Sans" pitchFamily="34" charset="-122"/>
                <a:cs typeface="DM Sans" pitchFamily="34" charset="-120"/>
              </a:rPr>
              <a:t>Gestion des Actifs IT </a:t>
            </a:r>
            <a:endParaRPr lang="en-US" sz="1568" dirty="0"/>
          </a:p>
        </p:txBody>
      </p:sp>
      <p:sp>
        <p:nvSpPr>
          <p:cNvPr id="22" name="Text 20"/>
          <p:cNvSpPr/>
          <p:nvPr/>
        </p:nvSpPr>
        <p:spPr>
          <a:xfrm>
            <a:off x="6043613" y="3624263"/>
            <a:ext cx="2381250" cy="819150"/>
          </a:xfrm>
          <a:prstGeom prst="rect">
            <a:avLst/>
          </a:prstGeom>
          <a:noFill/>
          <a:ln/>
        </p:spPr>
        <p:txBody>
          <a:bodyPr wrap="square" lIns="0" tIns="0" rIns="0" bIns="0" rtlCol="0" anchor="t"/>
          <a:lstStyle/>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RH gère l'inventaire et l'affectation du matériel</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Employé consulte ce qui lui est assigné.</a:t>
            </a:r>
            <a:endParaRPr lang="en-US" sz="1140" dirty="0"/>
          </a:p>
        </p:txBody>
      </p:sp>
      <p:sp>
        <p:nvSpPr>
          <p:cNvPr id="23" name="Shape 21"/>
          <p:cNvSpPr/>
          <p:nvPr/>
        </p:nvSpPr>
        <p:spPr>
          <a:xfrm>
            <a:off x="476250" y="357188"/>
            <a:ext cx="8191500" cy="4624388"/>
          </a:xfrm>
          <a:prstGeom prst="rect">
            <a:avLst/>
          </a:prstGeom>
          <a:noFill/>
          <a:ln/>
        </p:spPr>
      </p:sp>
      <p:sp>
        <p:nvSpPr>
          <p:cNvPr id="24" name="Text 22"/>
          <p:cNvSpPr/>
          <p:nvPr/>
        </p:nvSpPr>
        <p:spPr>
          <a:xfrm>
            <a:off x="476250" y="357188"/>
            <a:ext cx="8191500" cy="200025"/>
          </a:xfrm>
          <a:prstGeom prst="rect">
            <a:avLst/>
          </a:prstGeom>
          <a:noFill/>
          <a:ln/>
        </p:spPr>
        <p:txBody>
          <a:bodyPr wrap="square" lIns="0" tIns="0" rIns="0" bIns="0" rtlCol="0" anchor="ctr"/>
          <a:lstStyle/>
          <a:p>
            <a:pPr algn="l" indent="0" marL="0">
              <a:lnSpc>
                <a:spcPts val="1496"/>
              </a:lnSpc>
              <a:buNone/>
            </a:pPr>
            <a:r>
              <a:rPr lang="en-US" sz="998" b="1" spc="-22" kern="0" dirty="0">
                <a:solidFill>
                  <a:srgbClr val="888888">
                    <a:alpha val="99000"/>
                  </a:srgbClr>
                </a:solidFill>
                <a:latin typeface="Goudy Trajan" pitchFamily="34" charset="0"/>
                <a:ea typeface="Goudy Trajan" pitchFamily="34" charset="-122"/>
                <a:cs typeface="Goudy Trajan" pitchFamily="34" charset="-120"/>
              </a:rPr>
              <a:t>Analyse &amp; Conception</a:t>
            </a:r>
            <a:endParaRPr lang="en-US" sz="998" dirty="0"/>
          </a:p>
        </p:txBody>
      </p:sp>
      <p:sp>
        <p:nvSpPr>
          <p:cNvPr id="25" name="Shape 23"/>
          <p:cNvSpPr/>
          <p:nvPr/>
        </p:nvSpPr>
        <p:spPr>
          <a:xfrm>
            <a:off x="476250" y="4829175"/>
            <a:ext cx="8191500" cy="152400"/>
          </a:xfrm>
          <a:prstGeom prst="rect">
            <a:avLst/>
          </a:prstGeom>
          <a:noFill/>
          <a:ln/>
        </p:spPr>
      </p:sp>
      <p:sp>
        <p:nvSpPr>
          <p:cNvPr id="26" name="Text 24"/>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27" name="Text 25"/>
          <p:cNvSpPr/>
          <p:nvPr/>
        </p:nvSpPr>
        <p:spPr>
          <a:xfrm>
            <a:off x="8558213" y="4829175"/>
            <a:ext cx="109538"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10</a:t>
            </a:r>
            <a:endParaRPr lang="en-US" sz="748" dirty="0"/>
          </a:p>
        </p:txBody>
      </p:sp>
      <p:sp>
        <p:nvSpPr>
          <p:cNvPr id="28" name="Text 26"/>
          <p:cNvSpPr/>
          <p:nvPr/>
        </p:nvSpPr>
        <p:spPr>
          <a:xfrm>
            <a:off x="714375" y="1114425"/>
            <a:ext cx="5519738" cy="204788"/>
          </a:xfrm>
          <a:prstGeom prst="rect">
            <a:avLst/>
          </a:prstGeom>
          <a:noFill/>
          <a:ln/>
        </p:spPr>
        <p:txBody>
          <a:bodyPr wrap="square" lIns="0" tIns="0" rIns="0" bIns="0" rtlCol="0" anchor="t"/>
          <a:lstStyle/>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Les besoins fonctionnels de l’application se devise en 8 modules sur les trois roles :</a:t>
            </a:r>
            <a:endParaRPr lang="en-US" sz="11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4375" y="595313"/>
            <a:ext cx="4157663" cy="428625"/>
          </a:xfrm>
          <a:prstGeom prst="rect">
            <a:avLst/>
          </a:prstGeom>
          <a:noFill/>
          <a:ln/>
        </p:spPr>
        <p:txBody>
          <a:bodyPr wrap="square" lIns="0" tIns="0" rIns="0" bIns="0" rtlCol="0" anchor="t"/>
          <a:lstStyle/>
          <a:p>
            <a:pPr algn="l"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Besoins fonctionnels</a:t>
            </a:r>
            <a:endParaRPr lang="en-US" sz="3206" dirty="0"/>
          </a:p>
        </p:txBody>
      </p:sp>
      <p:sp>
        <p:nvSpPr>
          <p:cNvPr id="3" name="Text 1"/>
          <p:cNvSpPr/>
          <p:nvPr/>
        </p:nvSpPr>
        <p:spPr>
          <a:xfrm>
            <a:off x="714375" y="2357438"/>
            <a:ext cx="4514850" cy="428625"/>
          </a:xfrm>
          <a:prstGeom prst="rect">
            <a:avLst/>
          </a:prstGeom>
          <a:noFill/>
          <a:ln/>
        </p:spPr>
        <p:txBody>
          <a:bodyPr wrap="square" lIns="0" tIns="0" rIns="0" bIns="0" rtlCol="0" anchor="t"/>
          <a:lstStyle/>
          <a:p>
            <a:pPr algn="l"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Besoins non fonctionnels</a:t>
            </a:r>
            <a:endParaRPr lang="en-US" sz="3206" dirty="0"/>
          </a:p>
        </p:txBody>
      </p:sp>
      <p:sp>
        <p:nvSpPr>
          <p:cNvPr id="4" name="Shape 2"/>
          <p:cNvSpPr/>
          <p:nvPr/>
        </p:nvSpPr>
        <p:spPr>
          <a:xfrm>
            <a:off x="714375" y="1133475"/>
            <a:ext cx="7896225" cy="1123950"/>
          </a:xfrm>
          <a:prstGeom prst="rect">
            <a:avLst/>
          </a:prstGeom>
          <a:noFill/>
          <a:ln/>
        </p:spPr>
      </p:sp>
      <p:sp>
        <p:nvSpPr>
          <p:cNvPr id="5" name="Shape 3"/>
          <p:cNvSpPr/>
          <p:nvPr/>
        </p:nvSpPr>
        <p:spPr>
          <a:xfrm>
            <a:off x="714375" y="1312069"/>
            <a:ext cx="3514725" cy="766763"/>
          </a:xfrm>
          <a:prstGeom prst="rect">
            <a:avLst/>
          </a:prstGeom>
          <a:noFill/>
          <a:ln/>
        </p:spPr>
      </p:sp>
      <p:sp>
        <p:nvSpPr>
          <p:cNvPr id="6" name="Text 4"/>
          <p:cNvSpPr/>
          <p:nvPr/>
        </p:nvSpPr>
        <p:spPr>
          <a:xfrm>
            <a:off x="714375" y="1312069"/>
            <a:ext cx="3514725" cy="280988"/>
          </a:xfrm>
          <a:prstGeom prst="rect">
            <a:avLst/>
          </a:prstGeom>
          <a:noFill/>
          <a:ln/>
        </p:spPr>
        <p:txBody>
          <a:bodyPr wrap="square" lIns="0" tIns="0" rIns="0" bIns="0" rtlCol="0" anchor="t"/>
          <a:lstStyle/>
          <a:p>
            <a:pPr algn="l" indent="0" marL="0">
              <a:lnSpc>
                <a:spcPts val="2116"/>
              </a:lnSpc>
              <a:buNone/>
            </a:pPr>
            <a:r>
              <a:rPr lang="en-US" sz="1568" dirty="0">
                <a:solidFill>
                  <a:srgbClr val="005E9D">
                    <a:alpha val="99000"/>
                  </a:srgbClr>
                </a:solidFill>
                <a:latin typeface="DM Sans" pitchFamily="34" charset="0"/>
                <a:ea typeface="DM Sans" pitchFamily="34" charset="-122"/>
                <a:cs typeface="DM Sans" pitchFamily="34" charset="-120"/>
              </a:rPr>
              <a:t>Tableau de Bord</a:t>
            </a:r>
            <a:endParaRPr lang="en-US" sz="1568" dirty="0"/>
          </a:p>
        </p:txBody>
      </p:sp>
      <p:sp>
        <p:nvSpPr>
          <p:cNvPr id="7" name="Text 5"/>
          <p:cNvSpPr/>
          <p:nvPr/>
        </p:nvSpPr>
        <p:spPr>
          <a:xfrm>
            <a:off x="714375" y="1669256"/>
            <a:ext cx="3514725" cy="409575"/>
          </a:xfrm>
          <a:prstGeom prst="rect">
            <a:avLst/>
          </a:prstGeom>
          <a:noFill/>
          <a:ln/>
        </p:spPr>
        <p:txBody>
          <a:bodyPr wrap="square" lIns="0" tIns="0" rIns="0" bIns="0" rtlCol="0" anchor="t"/>
          <a:lstStyle/>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Propriétaire suit les KPIs (effectifs, congés, actifs).</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 RH suit l'activité opérationnelle quotidienne.</a:t>
            </a:r>
            <a:endParaRPr lang="en-US" sz="1140" dirty="0"/>
          </a:p>
        </p:txBody>
      </p:sp>
      <p:sp>
        <p:nvSpPr>
          <p:cNvPr id="8" name="Shape 6"/>
          <p:cNvSpPr/>
          <p:nvPr/>
        </p:nvSpPr>
        <p:spPr>
          <a:xfrm>
            <a:off x="5229225" y="1209675"/>
            <a:ext cx="3381375" cy="971550"/>
          </a:xfrm>
          <a:prstGeom prst="rect">
            <a:avLst/>
          </a:prstGeom>
          <a:noFill/>
          <a:ln/>
        </p:spPr>
      </p:sp>
      <p:sp>
        <p:nvSpPr>
          <p:cNvPr id="9" name="Text 7"/>
          <p:cNvSpPr/>
          <p:nvPr/>
        </p:nvSpPr>
        <p:spPr>
          <a:xfrm>
            <a:off x="5229225" y="1209675"/>
            <a:ext cx="3381375" cy="280988"/>
          </a:xfrm>
          <a:prstGeom prst="rect">
            <a:avLst/>
          </a:prstGeom>
          <a:noFill/>
          <a:ln/>
        </p:spPr>
        <p:txBody>
          <a:bodyPr wrap="square" lIns="0" tIns="0" rIns="0" bIns="0" rtlCol="0" anchor="t"/>
          <a:lstStyle/>
          <a:p>
            <a:pPr algn="l" indent="0" marL="0">
              <a:lnSpc>
                <a:spcPts val="2116"/>
              </a:lnSpc>
              <a:buNone/>
            </a:pPr>
            <a:r>
              <a:rPr lang="en-US" sz="1568" dirty="0">
                <a:solidFill>
                  <a:srgbClr val="005E9D">
                    <a:alpha val="99000"/>
                  </a:srgbClr>
                </a:solidFill>
                <a:latin typeface="DM Sans" pitchFamily="34" charset="0"/>
                <a:ea typeface="DM Sans" pitchFamily="34" charset="-122"/>
                <a:cs typeface="DM Sans" pitchFamily="34" charset="-120"/>
              </a:rPr>
              <a:t>Notifications et Communication</a:t>
            </a:r>
            <a:endParaRPr lang="en-US" sz="1568" dirty="0"/>
          </a:p>
        </p:txBody>
      </p:sp>
      <p:sp>
        <p:nvSpPr>
          <p:cNvPr id="10" name="Text 8"/>
          <p:cNvSpPr/>
          <p:nvPr/>
        </p:nvSpPr>
        <p:spPr>
          <a:xfrm>
            <a:off x="5229225" y="1566863"/>
            <a:ext cx="3381375" cy="614363"/>
          </a:xfrm>
          <a:prstGeom prst="rect">
            <a:avLst/>
          </a:prstGeom>
          <a:noFill/>
          <a:ln/>
        </p:spPr>
        <p:txBody>
          <a:bodyPr wrap="square" lIns="0" tIns="0" rIns="0" bIns="0" rtlCol="0" anchor="t"/>
          <a:lstStyle/>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Alertes automatiques sur les événements clés.</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Propriétaire et Rh envoie des message interne.</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 journal d'audit des actions critiques.</a:t>
            </a:r>
            <a:endParaRPr lang="en-US" sz="1140" dirty="0"/>
          </a:p>
        </p:txBody>
      </p:sp>
      <p:sp>
        <p:nvSpPr>
          <p:cNvPr id="11" name="Text 9"/>
          <p:cNvSpPr/>
          <p:nvPr/>
        </p:nvSpPr>
        <p:spPr>
          <a:xfrm>
            <a:off x="719138" y="3114675"/>
            <a:ext cx="8424863" cy="1023938"/>
          </a:xfrm>
          <a:prstGeom prst="rect">
            <a:avLst/>
          </a:prstGeom>
          <a:noFill/>
          <a:ln/>
        </p:spPr>
        <p:txBody>
          <a:bodyPr wrap="square" lIns="0" tIns="0" rIns="0" bIns="0" rtlCol="0" anchor="t"/>
          <a:lstStyle/>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Sécurité de session et connexion :   Déconnexion auto après 5 min d'inactivité. Blocage du compte après 5 échecs en 15 min. </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Chiffrement des mots de passe.</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Ergonomie et fluidité.</a:t>
            </a:r>
            <a:endParaRPr lang="en-US" sz="1140" dirty="0"/>
          </a:p>
        </p:txBody>
      </p:sp>
      <p:sp>
        <p:nvSpPr>
          <p:cNvPr id="12" name="Text 10"/>
          <p:cNvSpPr/>
          <p:nvPr/>
        </p:nvSpPr>
        <p:spPr>
          <a:xfrm>
            <a:off x="476250" y="357188"/>
            <a:ext cx="1657350" cy="200025"/>
          </a:xfrm>
          <a:prstGeom prst="rect">
            <a:avLst/>
          </a:prstGeom>
          <a:noFill/>
          <a:ln/>
        </p:spPr>
        <p:txBody>
          <a:bodyPr wrap="square" lIns="0" tIns="0" rIns="0" bIns="0" rtlCol="0" anchor="ctr"/>
          <a:lstStyle/>
          <a:p>
            <a:pPr algn="l" indent="0" marL="0">
              <a:lnSpc>
                <a:spcPts val="1496"/>
              </a:lnSpc>
              <a:buNone/>
            </a:pPr>
            <a:r>
              <a:rPr lang="en-US" sz="998" b="1" spc="-22" kern="0" dirty="0">
                <a:solidFill>
                  <a:srgbClr val="888888">
                    <a:alpha val="99000"/>
                  </a:srgbClr>
                </a:solidFill>
                <a:latin typeface="Goudy Trajan" pitchFamily="34" charset="0"/>
                <a:ea typeface="Goudy Trajan" pitchFamily="34" charset="-122"/>
                <a:cs typeface="Goudy Trajan" pitchFamily="34" charset="-120"/>
              </a:rPr>
              <a:t>Analyse &amp; Conception</a:t>
            </a:r>
            <a:endParaRPr lang="en-US" sz="998" dirty="0"/>
          </a:p>
        </p:txBody>
      </p:sp>
      <p:sp>
        <p:nvSpPr>
          <p:cNvPr id="13" name="Shape 11"/>
          <p:cNvSpPr/>
          <p:nvPr/>
        </p:nvSpPr>
        <p:spPr>
          <a:xfrm>
            <a:off x="476250" y="4829175"/>
            <a:ext cx="8191500" cy="152400"/>
          </a:xfrm>
          <a:prstGeom prst="rect">
            <a:avLst/>
          </a:prstGeom>
          <a:noFill/>
          <a:ln/>
        </p:spPr>
      </p:sp>
      <p:sp>
        <p:nvSpPr>
          <p:cNvPr id="14" name="Text 12"/>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15" name="Text 13"/>
          <p:cNvSpPr/>
          <p:nvPr/>
        </p:nvSpPr>
        <p:spPr>
          <a:xfrm>
            <a:off x="8572500" y="4829175"/>
            <a:ext cx="95250"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11</a:t>
            </a:r>
            <a:endParaRPr lang="en-US" sz="748"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EFEF"/>
        </a:solidFill>
      </p:bgPr>
    </p:bg>
    <p:spTree>
      <p:nvGrpSpPr>
        <p:cNvPr id="1" name=""/>
        <p:cNvGrpSpPr/>
        <p:nvPr/>
      </p:nvGrpSpPr>
      <p:grpSpPr>
        <a:xfrm>
          <a:off x="0" y="0"/>
          <a:ext cx="0" cy="0"/>
          <a:chOff x="0" y="0"/>
          <a:chExt cx="0" cy="0"/>
        </a:xfrm>
      </p:grpSpPr>
      <p:sp>
        <p:nvSpPr>
          <p:cNvPr id="2" name="Text 0"/>
          <p:cNvSpPr/>
          <p:nvPr/>
        </p:nvSpPr>
        <p:spPr>
          <a:xfrm>
            <a:off x="1238250" y="0"/>
            <a:ext cx="6667500" cy="428625"/>
          </a:xfrm>
          <a:prstGeom prst="rect">
            <a:avLst/>
          </a:prstGeom>
          <a:noFill/>
          <a:ln/>
        </p:spPr>
        <p:txBody>
          <a:bodyPr wrap="square" lIns="0" tIns="0" rIns="0" bIns="0" rtlCol="0" anchor="t"/>
          <a:lstStyle/>
          <a:p>
            <a:pPr algn="ctr"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Diagramme de cas d'utilisation</a:t>
            </a:r>
            <a:endParaRPr lang="en-US" sz="3206" dirty="0"/>
          </a:p>
        </p:txBody>
      </p:sp>
      <p:pic>
        <p:nvPicPr>
          <p:cNvPr id="3" name="Image 0" descr="preencoded.png">    </p:cNvPr>
          <p:cNvPicPr>
            <a:picLocks noChangeAspect="1"/>
          </p:cNvPicPr>
          <p:nvPr/>
        </p:nvPicPr>
        <p:blipFill>
          <a:blip r:embed="rId1"/>
          <a:srcRect l="0" r="0" t="0" b="0"/>
          <a:stretch/>
        </p:blipFill>
        <p:spPr>
          <a:xfrm>
            <a:off x="581025" y="428625"/>
            <a:ext cx="7958138" cy="47148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EFEF"/>
        </a:solidFill>
      </p:bgPr>
    </p:bg>
    <p:spTree>
      <p:nvGrpSpPr>
        <p:cNvPr id="1" name=""/>
        <p:cNvGrpSpPr/>
        <p:nvPr/>
      </p:nvGrpSpPr>
      <p:grpSpPr>
        <a:xfrm>
          <a:off x="0" y="0"/>
          <a:ext cx="0" cy="0"/>
          <a:chOff x="0" y="0"/>
          <a:chExt cx="0" cy="0"/>
        </a:xfrm>
      </p:grpSpPr>
      <p:sp>
        <p:nvSpPr>
          <p:cNvPr id="2" name="Text 0"/>
          <p:cNvSpPr/>
          <p:nvPr/>
        </p:nvSpPr>
        <p:spPr>
          <a:xfrm>
            <a:off x="1238250" y="114300"/>
            <a:ext cx="6667500" cy="428625"/>
          </a:xfrm>
          <a:prstGeom prst="rect">
            <a:avLst/>
          </a:prstGeom>
          <a:noFill/>
          <a:ln/>
        </p:spPr>
        <p:txBody>
          <a:bodyPr wrap="square" lIns="0" tIns="0" rIns="0" bIns="0" rtlCol="0" anchor="t"/>
          <a:lstStyle/>
          <a:p>
            <a:pPr algn="ctr"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Diagramme de séquence</a:t>
            </a:r>
            <a:endParaRPr lang="en-US" sz="3206" dirty="0"/>
          </a:p>
        </p:txBody>
      </p:sp>
      <p:sp>
        <p:nvSpPr>
          <p:cNvPr id="3" name="Text 1"/>
          <p:cNvSpPr/>
          <p:nvPr/>
        </p:nvSpPr>
        <p:spPr>
          <a:xfrm>
            <a:off x="4129088" y="595313"/>
            <a:ext cx="890588"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S’authentifier</a:t>
            </a:r>
            <a:endParaRPr lang="en-US" sz="1140" dirty="0"/>
          </a:p>
        </p:txBody>
      </p:sp>
      <p:pic>
        <p:nvPicPr>
          <p:cNvPr id="4" name="Image 0" descr="preencoded.png">    </p:cNvPr>
          <p:cNvPicPr>
            <a:picLocks noChangeAspect="1"/>
          </p:cNvPicPr>
          <p:nvPr/>
        </p:nvPicPr>
        <p:blipFill>
          <a:blip r:embed="rId1"/>
          <a:srcRect l="0" r="0" t="0" b="977"/>
          <a:stretch/>
        </p:blipFill>
        <p:spPr>
          <a:xfrm>
            <a:off x="719138" y="800100"/>
            <a:ext cx="7710487" cy="4343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EFEF"/>
        </a:solidFill>
      </p:bgPr>
    </p:bg>
    <p:spTree>
      <p:nvGrpSpPr>
        <p:cNvPr id="1" name=""/>
        <p:cNvGrpSpPr/>
        <p:nvPr/>
      </p:nvGrpSpPr>
      <p:grpSpPr>
        <a:xfrm>
          <a:off x="0" y="0"/>
          <a:ext cx="0" cy="0"/>
          <a:chOff x="0" y="0"/>
          <a:chExt cx="0" cy="0"/>
        </a:xfrm>
      </p:grpSpPr>
      <p:sp>
        <p:nvSpPr>
          <p:cNvPr id="2" name="Text 0"/>
          <p:cNvSpPr/>
          <p:nvPr/>
        </p:nvSpPr>
        <p:spPr>
          <a:xfrm>
            <a:off x="1238250" y="114300"/>
            <a:ext cx="6667500" cy="428625"/>
          </a:xfrm>
          <a:prstGeom prst="rect">
            <a:avLst/>
          </a:prstGeom>
          <a:noFill/>
          <a:ln/>
        </p:spPr>
        <p:txBody>
          <a:bodyPr wrap="square" lIns="0" tIns="0" rIns="0" bIns="0" rtlCol="0" anchor="t"/>
          <a:lstStyle/>
          <a:p>
            <a:pPr algn="ctr"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Diagramme de séquence</a:t>
            </a:r>
            <a:endParaRPr lang="en-US" sz="3206" dirty="0"/>
          </a:p>
        </p:txBody>
      </p:sp>
      <p:sp>
        <p:nvSpPr>
          <p:cNvPr id="3" name="Text 1"/>
          <p:cNvSpPr/>
          <p:nvPr/>
        </p:nvSpPr>
        <p:spPr>
          <a:xfrm>
            <a:off x="3524250" y="595313"/>
            <a:ext cx="2095500"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Soumettre Demande de Congé</a:t>
            </a:r>
            <a:endParaRPr lang="en-US" sz="1140" dirty="0"/>
          </a:p>
        </p:txBody>
      </p:sp>
      <p:pic>
        <p:nvPicPr>
          <p:cNvPr id="4" name="Image 0" descr="preencoded.png">    </p:cNvPr>
          <p:cNvPicPr>
            <a:picLocks noChangeAspect="1"/>
          </p:cNvPicPr>
          <p:nvPr/>
        </p:nvPicPr>
        <p:blipFill>
          <a:blip r:embed="rId1"/>
          <a:srcRect l="0" r="0" t="0" b="0"/>
          <a:stretch/>
        </p:blipFill>
        <p:spPr>
          <a:xfrm>
            <a:off x="719138" y="800100"/>
            <a:ext cx="7710487" cy="4343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EFEF"/>
        </a:solidFill>
      </p:bgPr>
    </p:bg>
    <p:spTree>
      <p:nvGrpSpPr>
        <p:cNvPr id="1" name=""/>
        <p:cNvGrpSpPr/>
        <p:nvPr/>
      </p:nvGrpSpPr>
      <p:grpSpPr>
        <a:xfrm>
          <a:off x="0" y="0"/>
          <a:ext cx="0" cy="0"/>
          <a:chOff x="0" y="0"/>
          <a:chExt cx="0" cy="0"/>
        </a:xfrm>
      </p:grpSpPr>
      <p:sp>
        <p:nvSpPr>
          <p:cNvPr id="2" name="Text 0"/>
          <p:cNvSpPr/>
          <p:nvPr/>
        </p:nvSpPr>
        <p:spPr>
          <a:xfrm>
            <a:off x="1238250" y="114300"/>
            <a:ext cx="6667500" cy="428625"/>
          </a:xfrm>
          <a:prstGeom prst="rect">
            <a:avLst/>
          </a:prstGeom>
          <a:noFill/>
          <a:ln/>
        </p:spPr>
        <p:txBody>
          <a:bodyPr wrap="square" lIns="0" tIns="0" rIns="0" bIns="0" rtlCol="0" anchor="t"/>
          <a:lstStyle/>
          <a:p>
            <a:pPr algn="ctr"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Diagramme d’activité</a:t>
            </a:r>
            <a:endParaRPr lang="en-US" sz="3206" dirty="0"/>
          </a:p>
        </p:txBody>
      </p:sp>
      <p:sp>
        <p:nvSpPr>
          <p:cNvPr id="3" name="Text 1"/>
          <p:cNvSpPr/>
          <p:nvPr/>
        </p:nvSpPr>
        <p:spPr>
          <a:xfrm>
            <a:off x="1185863" y="542925"/>
            <a:ext cx="2486025"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Traitement d’une demande de congé</a:t>
            </a:r>
            <a:endParaRPr lang="en-US" sz="1140" dirty="0"/>
          </a:p>
        </p:txBody>
      </p:sp>
      <p:sp>
        <p:nvSpPr>
          <p:cNvPr id="4" name="Text 2"/>
          <p:cNvSpPr/>
          <p:nvPr/>
        </p:nvSpPr>
        <p:spPr>
          <a:xfrm>
            <a:off x="6681788" y="542925"/>
            <a:ext cx="1071563"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Créer Employée</a:t>
            </a:r>
            <a:endParaRPr lang="en-US" sz="1140" dirty="0"/>
          </a:p>
        </p:txBody>
      </p:sp>
      <p:pic>
        <p:nvPicPr>
          <p:cNvPr id="5" name="Image 0" descr="preencoded.png">    </p:cNvPr>
          <p:cNvPicPr>
            <a:picLocks noChangeAspect="1"/>
          </p:cNvPicPr>
          <p:nvPr/>
        </p:nvPicPr>
        <p:blipFill>
          <a:blip r:embed="rId1"/>
          <a:srcRect l="0" r="0" t="0" b="0"/>
          <a:stretch/>
        </p:blipFill>
        <p:spPr>
          <a:xfrm>
            <a:off x="0" y="800100"/>
            <a:ext cx="5276850" cy="4343400"/>
          </a:xfrm>
          <a:prstGeom prst="rect">
            <a:avLst/>
          </a:prstGeom>
        </p:spPr>
      </p:pic>
      <p:pic>
        <p:nvPicPr>
          <p:cNvPr id="6" name="Image 1" descr="preencoded.png">    </p:cNvPr>
          <p:cNvPicPr>
            <a:picLocks noChangeAspect="1"/>
          </p:cNvPicPr>
          <p:nvPr/>
        </p:nvPicPr>
        <p:blipFill>
          <a:blip r:embed="rId2"/>
          <a:srcRect l="0" r="0" t="0" b="0"/>
          <a:stretch/>
        </p:blipFill>
        <p:spPr>
          <a:xfrm>
            <a:off x="5848350" y="800100"/>
            <a:ext cx="2705100" cy="4343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FEFEF"/>
        </a:solidFill>
      </p:bgPr>
    </p:bg>
    <p:spTree>
      <p:nvGrpSpPr>
        <p:cNvPr id="1" name=""/>
        <p:cNvGrpSpPr/>
        <p:nvPr/>
      </p:nvGrpSpPr>
      <p:grpSpPr>
        <a:xfrm>
          <a:off x="0" y="0"/>
          <a:ext cx="0" cy="0"/>
          <a:chOff x="0" y="0"/>
          <a:chExt cx="0" cy="0"/>
        </a:xfrm>
      </p:grpSpPr>
      <p:sp>
        <p:nvSpPr>
          <p:cNvPr id="2" name="Text 0"/>
          <p:cNvSpPr/>
          <p:nvPr/>
        </p:nvSpPr>
        <p:spPr>
          <a:xfrm>
            <a:off x="166688" y="2000250"/>
            <a:ext cx="2185988" cy="857250"/>
          </a:xfrm>
          <a:prstGeom prst="rect">
            <a:avLst/>
          </a:prstGeom>
          <a:noFill/>
          <a:ln/>
        </p:spPr>
        <p:txBody>
          <a:bodyPr wrap="square" lIns="0" tIns="0" rIns="0" bIns="0" rtlCol="0" anchor="t"/>
          <a:lstStyle/>
          <a:p>
            <a:pPr algn="l"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Diagramme  de classe</a:t>
            </a:r>
            <a:endParaRPr lang="en-US" sz="3206" dirty="0"/>
          </a:p>
        </p:txBody>
      </p:sp>
      <p:pic>
        <p:nvPicPr>
          <p:cNvPr id="3" name="Image 0" descr="preencoded.png">    </p:cNvPr>
          <p:cNvPicPr>
            <a:picLocks noChangeAspect="1"/>
          </p:cNvPicPr>
          <p:nvPr/>
        </p:nvPicPr>
        <p:blipFill>
          <a:blip r:embed="rId1"/>
          <a:srcRect l="0" r="0" t="0" b="0"/>
          <a:stretch/>
        </p:blipFill>
        <p:spPr>
          <a:xfrm>
            <a:off x="2286000" y="0"/>
            <a:ext cx="6858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1375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rcRect l="0" r="0" t="0" b="0"/>
          <a:stretch/>
        </p:blipFill>
        <p:spPr>
          <a:xfrm>
            <a:off x="4619625" y="3128963"/>
            <a:ext cx="276225" cy="175354"/>
          </a:xfrm>
          <a:prstGeom prst="rect">
            <a:avLst/>
          </a:prstGeom>
        </p:spPr>
      </p:pic>
      <p:sp>
        <p:nvSpPr>
          <p:cNvPr id="4" name="Shape 0"/>
          <p:cNvSpPr/>
          <p:nvPr/>
        </p:nvSpPr>
        <p:spPr>
          <a:xfrm>
            <a:off x="5248275" y="1181100"/>
            <a:ext cx="3633788" cy="2781300"/>
          </a:xfrm>
          <a:prstGeom prst="rect">
            <a:avLst/>
          </a:prstGeom>
          <a:noFill/>
          <a:ln/>
        </p:spPr>
      </p:sp>
      <p:sp>
        <p:nvSpPr>
          <p:cNvPr id="5" name="Text 1"/>
          <p:cNvSpPr/>
          <p:nvPr/>
        </p:nvSpPr>
        <p:spPr>
          <a:xfrm>
            <a:off x="5248275" y="1181100"/>
            <a:ext cx="1566863"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Introduction</a:t>
            </a:r>
            <a:endParaRPr lang="en-US" sz="2138" dirty="0"/>
          </a:p>
        </p:txBody>
      </p:sp>
      <p:sp>
        <p:nvSpPr>
          <p:cNvPr id="6" name="Text 2"/>
          <p:cNvSpPr/>
          <p:nvPr/>
        </p:nvSpPr>
        <p:spPr>
          <a:xfrm>
            <a:off x="5248275" y="1790700"/>
            <a:ext cx="3038475"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NewDev Maroc</a:t>
            </a:r>
            <a:endParaRPr lang="en-US" sz="2138" dirty="0"/>
          </a:p>
        </p:txBody>
      </p:sp>
      <p:sp>
        <p:nvSpPr>
          <p:cNvPr id="7" name="Text 3"/>
          <p:cNvSpPr/>
          <p:nvPr/>
        </p:nvSpPr>
        <p:spPr>
          <a:xfrm>
            <a:off x="5248275" y="2400300"/>
            <a:ext cx="2805113"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Analyse &amp; Conception</a:t>
            </a:r>
            <a:endParaRPr lang="en-US" sz="2138" dirty="0"/>
          </a:p>
        </p:txBody>
      </p:sp>
      <p:sp>
        <p:nvSpPr>
          <p:cNvPr id="8" name="Text 4"/>
          <p:cNvSpPr/>
          <p:nvPr/>
        </p:nvSpPr>
        <p:spPr>
          <a:xfrm>
            <a:off x="5248275" y="3009900"/>
            <a:ext cx="1371600"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Réalisation</a:t>
            </a:r>
            <a:endParaRPr lang="en-US" sz="2138" dirty="0"/>
          </a:p>
        </p:txBody>
      </p:sp>
      <p:sp>
        <p:nvSpPr>
          <p:cNvPr id="9" name="Text 5"/>
          <p:cNvSpPr/>
          <p:nvPr/>
        </p:nvSpPr>
        <p:spPr>
          <a:xfrm>
            <a:off x="5248275" y="3619500"/>
            <a:ext cx="3633788"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Démonstration &amp; Conclusion</a:t>
            </a:r>
            <a:endParaRPr lang="en-US" sz="2138" dirty="0"/>
          </a:p>
        </p:txBody>
      </p:sp>
      <p:sp>
        <p:nvSpPr>
          <p:cNvPr id="10" name="Text 6"/>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FFFFFF">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11" name="Text 7"/>
          <p:cNvSpPr/>
          <p:nvPr/>
        </p:nvSpPr>
        <p:spPr>
          <a:xfrm>
            <a:off x="8562975" y="4829175"/>
            <a:ext cx="104775"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FFFFFF">
                    <a:alpha val="99000"/>
                  </a:srgbClr>
                </a:solidFill>
                <a:latin typeface="Inter" pitchFamily="34" charset="0"/>
                <a:ea typeface="Inter" pitchFamily="34" charset="-122"/>
                <a:cs typeface="Inter" pitchFamily="34" charset="-120"/>
              </a:rPr>
              <a:t>17</a:t>
            </a:r>
            <a:endParaRPr lang="en-US" sz="748" dirty="0"/>
          </a:p>
        </p:txBody>
      </p:sp>
      <p:sp>
        <p:nvSpPr>
          <p:cNvPr id="12" name="Text 8"/>
          <p:cNvSpPr/>
          <p:nvPr/>
        </p:nvSpPr>
        <p:spPr>
          <a:xfrm>
            <a:off x="476250" y="357188"/>
            <a:ext cx="862013" cy="200025"/>
          </a:xfrm>
          <a:prstGeom prst="rect">
            <a:avLst/>
          </a:prstGeom>
          <a:noFill/>
          <a:ln/>
        </p:spPr>
        <p:txBody>
          <a:bodyPr wrap="square" lIns="0" tIns="0" rIns="0" bIns="0" rtlCol="0" anchor="ctr"/>
          <a:lstStyle/>
          <a:p>
            <a:pPr algn="l" indent="0" marL="0">
              <a:lnSpc>
                <a:spcPts val="1496"/>
              </a:lnSpc>
              <a:buNone/>
            </a:pPr>
            <a:r>
              <a:rPr lang="en-US" sz="998" b="1" spc="-22" kern="0" dirty="0">
                <a:solidFill>
                  <a:srgbClr val="FFFFFF">
                    <a:alpha val="99000"/>
                  </a:srgbClr>
                </a:solidFill>
                <a:latin typeface="Goudy Trajan" pitchFamily="34" charset="0"/>
                <a:ea typeface="Goudy Trajan" pitchFamily="34" charset="-122"/>
                <a:cs typeface="Goudy Trajan" pitchFamily="34" charset="-120"/>
              </a:rPr>
              <a:t>Réalisation</a:t>
            </a:r>
            <a:endParaRPr lang="en-US" sz="998"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009900" y="404813"/>
            <a:ext cx="3128963" cy="428625"/>
          </a:xfrm>
          <a:prstGeom prst="rect">
            <a:avLst/>
          </a:prstGeom>
          <a:noFill/>
          <a:ln/>
        </p:spPr>
        <p:txBody>
          <a:bodyPr wrap="square" lIns="0" tIns="0" rIns="0" bIns="0" rtlCol="0" anchor="t"/>
          <a:lstStyle/>
          <a:p>
            <a:pPr algn="l" indent="0" marL="0">
              <a:lnSpc>
                <a:spcPts val="3206"/>
              </a:lnSpc>
              <a:buNone/>
            </a:pPr>
            <a:r>
              <a:rPr lang="en-US" sz="3206" spc="-71" kern="0" dirty="0">
                <a:solidFill>
                  <a:srgbClr val="000000">
                    <a:alpha val="99000"/>
                  </a:srgbClr>
                </a:solidFill>
                <a:latin typeface="DM Serif Text" pitchFamily="34" charset="0"/>
                <a:ea typeface="DM Serif Text" pitchFamily="34" charset="-122"/>
                <a:cs typeface="DM Serif Text" pitchFamily="34" charset="-120"/>
              </a:rPr>
              <a:t>Choix techniques</a:t>
            </a:r>
            <a:endParaRPr lang="en-US" sz="3206" dirty="0"/>
          </a:p>
        </p:txBody>
      </p:sp>
      <p:sp>
        <p:nvSpPr>
          <p:cNvPr id="3" name="Shape 1"/>
          <p:cNvSpPr/>
          <p:nvPr/>
        </p:nvSpPr>
        <p:spPr>
          <a:xfrm>
            <a:off x="3357563" y="1076325"/>
            <a:ext cx="3176588" cy="3786188"/>
          </a:xfrm>
          <a:prstGeom prst="roundRect">
            <a:avLst>
              <a:gd name="adj" fmla="val 3742"/>
            </a:avLst>
          </a:prstGeom>
          <a:solidFill>
            <a:srgbClr val="C2F2D9"/>
          </a:solidFill>
          <a:ln w="18097">
            <a:solidFill>
              <a:srgbClr val="888888"/>
            </a:solidFill>
            <a:prstDash val="solid"/>
          </a:ln>
        </p:spPr>
      </p:sp>
      <p:sp>
        <p:nvSpPr>
          <p:cNvPr id="4" name="Text 2"/>
          <p:cNvSpPr/>
          <p:nvPr/>
        </p:nvSpPr>
        <p:spPr>
          <a:xfrm>
            <a:off x="3424238" y="1076325"/>
            <a:ext cx="3043238" cy="357188"/>
          </a:xfrm>
          <a:prstGeom prst="rect">
            <a:avLst/>
          </a:prstGeom>
          <a:noFill/>
          <a:ln/>
        </p:spPr>
        <p:txBody>
          <a:bodyPr wrap="square" lIns="0" tIns="0" rIns="0" bIns="0" rtlCol="0" anchor="t"/>
          <a:lstStyle/>
          <a:p>
            <a:pPr algn="ctr" indent="0" marL="0">
              <a:lnSpc>
                <a:spcPts val="2672"/>
              </a:lnSpc>
              <a:buNone/>
            </a:pPr>
            <a:r>
              <a:rPr lang="en-US" sz="2138" spc="-43" kern="0" dirty="0">
                <a:solidFill>
                  <a:srgbClr val="000000">
                    <a:alpha val="99000"/>
                  </a:srgbClr>
                </a:solidFill>
                <a:latin typeface="DM Serif Text" pitchFamily="34" charset="0"/>
                <a:ea typeface="DM Serif Text" pitchFamily="34" charset="-122"/>
                <a:cs typeface="DM Serif Text" pitchFamily="34" charset="-120"/>
              </a:rPr>
              <a:t>Spring Boot</a:t>
            </a:r>
            <a:endParaRPr lang="en-US" sz="2138" dirty="0"/>
          </a:p>
        </p:txBody>
      </p:sp>
      <p:pic>
        <p:nvPicPr>
          <p:cNvPr id="5" name="Image 0" descr="preencoded.png">    </p:cNvPr>
          <p:cNvPicPr>
            <a:picLocks noChangeAspect="1"/>
          </p:cNvPicPr>
          <p:nvPr/>
        </p:nvPicPr>
        <p:blipFill>
          <a:blip r:embed="rId1"/>
          <a:srcRect l="0" r="0" t="0" b="0"/>
          <a:stretch/>
        </p:blipFill>
        <p:spPr>
          <a:xfrm>
            <a:off x="4586288" y="1457325"/>
            <a:ext cx="719138" cy="719138"/>
          </a:xfrm>
          <a:prstGeom prst="rect">
            <a:avLst/>
          </a:prstGeom>
        </p:spPr>
      </p:pic>
      <p:sp>
        <p:nvSpPr>
          <p:cNvPr id="6" name="Text 3"/>
          <p:cNvSpPr/>
          <p:nvPr/>
        </p:nvSpPr>
        <p:spPr>
          <a:xfrm>
            <a:off x="3424238" y="2200275"/>
            <a:ext cx="3043238" cy="2662238"/>
          </a:xfrm>
          <a:prstGeom prst="rect">
            <a:avLst/>
          </a:prstGeom>
          <a:noFill/>
          <a:ln/>
        </p:spPr>
        <p:txBody>
          <a:bodyPr wrap="square" lIns="0" tIns="0" rIns="0" bIns="0" rtlCol="0" anchor="t"/>
          <a:lstStyle/>
          <a:p>
            <a:pPr algn="l"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Spring Boot est un framework Java open source qui repose sur Spring Framework</a:t>
            </a:r>
            <a:endParaRPr lang="en-US" sz="1140" dirty="0"/>
          </a:p>
          <a:p>
            <a:pPr algn="l"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 </a:t>
            </a:r>
            <a:pPr algn="l" indent="0" marL="0">
              <a:lnSpc>
                <a:spcPts val="1539"/>
              </a:lnSpc>
              <a:buNone/>
            </a:pPr>
            <a:r>
              <a:rPr lang="en-US" sz="1140" i="1" u="sng" dirty="0">
                <a:solidFill>
                  <a:srgbClr val="141414">
                    <a:alpha val="99000"/>
                  </a:srgbClr>
                </a:solidFill>
                <a:latin typeface="DM Sans" pitchFamily="34" charset="0"/>
                <a:ea typeface="DM Sans" pitchFamily="34" charset="-122"/>
                <a:cs typeface="DM Sans" pitchFamily="34" charset="-120"/>
              </a:rPr>
              <a:t>Pourquoi ce choix ?</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fournie une configuration automatique.</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Construire une API REST structurée</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Embarquant son propre serveur Tomcat </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La présence de Spring Security, qui gère directement les droits d’accès aux ressources de l’API. </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un écosystème mature pou la persistance  </a:t>
            </a:r>
            <a:endParaRPr lang="en-US" sz="1140" dirty="0"/>
          </a:p>
        </p:txBody>
      </p:sp>
      <p:sp>
        <p:nvSpPr>
          <p:cNvPr id="7" name="Shape 4"/>
          <p:cNvSpPr/>
          <p:nvPr/>
        </p:nvSpPr>
        <p:spPr>
          <a:xfrm>
            <a:off x="6610350" y="1076325"/>
            <a:ext cx="2428875" cy="3748087"/>
          </a:xfrm>
          <a:prstGeom prst="roundRect">
            <a:avLst>
              <a:gd name="adj" fmla="val 4894"/>
            </a:avLst>
          </a:prstGeom>
          <a:solidFill>
            <a:srgbClr val="2B9BE9"/>
          </a:solidFill>
          <a:ln w="18097">
            <a:solidFill>
              <a:srgbClr val="888888"/>
            </a:solidFill>
            <a:prstDash val="solid"/>
          </a:ln>
        </p:spPr>
      </p:sp>
      <p:sp>
        <p:nvSpPr>
          <p:cNvPr id="8" name="Text 5"/>
          <p:cNvSpPr/>
          <p:nvPr/>
        </p:nvSpPr>
        <p:spPr>
          <a:xfrm>
            <a:off x="6677025" y="1114425"/>
            <a:ext cx="2295525" cy="357188"/>
          </a:xfrm>
          <a:prstGeom prst="rect">
            <a:avLst/>
          </a:prstGeom>
          <a:noFill/>
          <a:ln/>
        </p:spPr>
        <p:txBody>
          <a:bodyPr wrap="square" lIns="0" tIns="0" rIns="0" bIns="0" rtlCol="0" anchor="t"/>
          <a:lstStyle/>
          <a:p>
            <a:pPr algn="ctr" indent="0" marL="0">
              <a:lnSpc>
                <a:spcPts val="2672"/>
              </a:lnSpc>
              <a:buNone/>
            </a:pPr>
            <a:r>
              <a:rPr lang="en-US" sz="2138" spc="-43" kern="0" dirty="0">
                <a:solidFill>
                  <a:srgbClr val="000000">
                    <a:alpha val="99000"/>
                  </a:srgbClr>
                </a:solidFill>
                <a:latin typeface="DM Serif Text" pitchFamily="34" charset="0"/>
                <a:ea typeface="DM Serif Text" pitchFamily="34" charset="-122"/>
                <a:cs typeface="DM Serif Text" pitchFamily="34" charset="-120"/>
              </a:rPr>
              <a:t>MySQL</a:t>
            </a:r>
            <a:endParaRPr lang="en-US" sz="2138" dirty="0"/>
          </a:p>
        </p:txBody>
      </p:sp>
      <p:pic>
        <p:nvPicPr>
          <p:cNvPr id="9" name="Image 1" descr="preencoded.png">    </p:cNvPr>
          <p:cNvPicPr>
            <a:picLocks noChangeAspect="1"/>
          </p:cNvPicPr>
          <p:nvPr/>
        </p:nvPicPr>
        <p:blipFill>
          <a:blip r:embed="rId2"/>
          <a:srcRect l="0" r="0" t="0" b="0"/>
          <a:stretch/>
        </p:blipFill>
        <p:spPr>
          <a:xfrm>
            <a:off x="7467600" y="1576388"/>
            <a:ext cx="714375" cy="714375"/>
          </a:xfrm>
          <a:prstGeom prst="rect">
            <a:avLst/>
          </a:prstGeom>
        </p:spPr>
      </p:pic>
      <p:sp>
        <p:nvSpPr>
          <p:cNvPr id="10" name="Text 6"/>
          <p:cNvSpPr/>
          <p:nvPr/>
        </p:nvSpPr>
        <p:spPr>
          <a:xfrm>
            <a:off x="6677025" y="2395538"/>
            <a:ext cx="2295525" cy="1843088"/>
          </a:xfrm>
          <a:prstGeom prst="rect">
            <a:avLst/>
          </a:prstGeom>
          <a:noFill/>
          <a:ln/>
        </p:spPr>
        <p:txBody>
          <a:bodyPr wrap="square" lIns="0" tIns="0" rIns="0" bIns="0" rtlCol="0" anchor="t"/>
          <a:lstStyle/>
          <a:p>
            <a:pPr algn="l"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Système de gestion de base de données relationnel, </a:t>
            </a:r>
            <a:endParaRPr lang="en-US" sz="1140" dirty="0"/>
          </a:p>
          <a:p>
            <a:pPr algn="l"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 </a:t>
            </a:r>
            <a:pPr algn="l" indent="0" marL="0">
              <a:lnSpc>
                <a:spcPts val="1539"/>
              </a:lnSpc>
              <a:buNone/>
            </a:pPr>
            <a:r>
              <a:rPr lang="en-US" sz="1140" i="1" u="sng" dirty="0">
                <a:solidFill>
                  <a:srgbClr val="141414">
                    <a:alpha val="99000"/>
                  </a:srgbClr>
                </a:solidFill>
                <a:latin typeface="DM Sans" pitchFamily="34" charset="0"/>
                <a:ea typeface="DM Sans" pitchFamily="34" charset="-122"/>
                <a:cs typeface="DM Sans" pitchFamily="34" charset="-120"/>
              </a:rPr>
              <a:t>Pourquoi ce choix ?</a:t>
            </a:r>
            <a:endParaRPr lang="en-US" sz="1140" dirty="0"/>
          </a:p>
          <a:p>
            <a:pPr algn="l"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 Adapté à la nature structurée et fortement relationnelle des données RH (employés, congés, départements).</a:t>
            </a:r>
            <a:endParaRPr lang="en-US" sz="1140" dirty="0"/>
          </a:p>
        </p:txBody>
      </p:sp>
      <p:sp>
        <p:nvSpPr>
          <p:cNvPr id="11" name="Shape 7"/>
          <p:cNvSpPr/>
          <p:nvPr/>
        </p:nvSpPr>
        <p:spPr>
          <a:xfrm>
            <a:off x="104775" y="1076325"/>
            <a:ext cx="3176588" cy="3786188"/>
          </a:xfrm>
          <a:prstGeom prst="roundRect">
            <a:avLst>
              <a:gd name="adj" fmla="val 3742"/>
            </a:avLst>
          </a:prstGeom>
          <a:solidFill>
            <a:srgbClr val="A9F0F5"/>
          </a:solidFill>
          <a:ln w="18097">
            <a:solidFill>
              <a:srgbClr val="888888"/>
            </a:solidFill>
            <a:prstDash val="solid"/>
          </a:ln>
        </p:spPr>
      </p:sp>
      <p:sp>
        <p:nvSpPr>
          <p:cNvPr id="12" name="Text 8"/>
          <p:cNvSpPr/>
          <p:nvPr/>
        </p:nvSpPr>
        <p:spPr>
          <a:xfrm>
            <a:off x="171450" y="1114425"/>
            <a:ext cx="3043238" cy="357188"/>
          </a:xfrm>
          <a:prstGeom prst="rect">
            <a:avLst/>
          </a:prstGeom>
          <a:noFill/>
          <a:ln/>
        </p:spPr>
        <p:txBody>
          <a:bodyPr wrap="square" lIns="0" tIns="0" rIns="0" bIns="0" rtlCol="0" anchor="t"/>
          <a:lstStyle/>
          <a:p>
            <a:pPr algn="ctr" indent="0" marL="0">
              <a:lnSpc>
                <a:spcPts val="2672"/>
              </a:lnSpc>
              <a:buNone/>
            </a:pPr>
            <a:r>
              <a:rPr lang="en-US" sz="2138" spc="-43" kern="0" dirty="0">
                <a:solidFill>
                  <a:srgbClr val="000000">
                    <a:alpha val="99000"/>
                  </a:srgbClr>
                </a:solidFill>
                <a:latin typeface="DM Serif Text" pitchFamily="34" charset="0"/>
                <a:ea typeface="DM Serif Text" pitchFamily="34" charset="-122"/>
                <a:cs typeface="DM Serif Text" pitchFamily="34" charset="-120"/>
              </a:rPr>
              <a:t>React</a:t>
            </a:r>
            <a:endParaRPr lang="en-US" sz="2138" dirty="0"/>
          </a:p>
        </p:txBody>
      </p:sp>
      <p:pic>
        <p:nvPicPr>
          <p:cNvPr id="13" name="Image 2" descr="preencoded.png">    </p:cNvPr>
          <p:cNvPicPr>
            <a:picLocks noChangeAspect="1"/>
          </p:cNvPicPr>
          <p:nvPr/>
        </p:nvPicPr>
        <p:blipFill>
          <a:blip r:embed="rId3"/>
          <a:srcRect l="0" r="0" t="0" b="0"/>
          <a:stretch/>
        </p:blipFill>
        <p:spPr>
          <a:xfrm>
            <a:off x="1335881" y="1562100"/>
            <a:ext cx="714375" cy="714375"/>
          </a:xfrm>
          <a:prstGeom prst="rect">
            <a:avLst/>
          </a:prstGeom>
        </p:spPr>
      </p:pic>
      <p:sp>
        <p:nvSpPr>
          <p:cNvPr id="14" name="Text 9"/>
          <p:cNvSpPr/>
          <p:nvPr/>
        </p:nvSpPr>
        <p:spPr>
          <a:xfrm>
            <a:off x="171450" y="2366963"/>
            <a:ext cx="3043238" cy="2457450"/>
          </a:xfrm>
          <a:prstGeom prst="rect">
            <a:avLst/>
          </a:prstGeom>
          <a:noFill/>
          <a:ln/>
        </p:spPr>
        <p:txBody>
          <a:bodyPr wrap="square" lIns="0" tIns="0" rIns="0" bIns="0" rtlCol="0" anchor="t"/>
          <a:lstStyle/>
          <a:p>
            <a:pPr algn="l"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React est une bibliothèque JavaScript open-source développée par Meta  </a:t>
            </a:r>
            <a:endParaRPr lang="en-US" sz="1140" dirty="0"/>
          </a:p>
          <a:p>
            <a:pPr algn="l" indent="0" marL="0">
              <a:lnSpc>
                <a:spcPts val="1539"/>
              </a:lnSpc>
              <a:buNone/>
            </a:pPr>
            <a:r>
              <a:rPr lang="en-US" sz="1140" dirty="0">
                <a:solidFill>
                  <a:srgbClr val="141414">
                    <a:alpha val="99000"/>
                  </a:srgbClr>
                </a:solidFill>
                <a:latin typeface="DM Sans" pitchFamily="34" charset="0"/>
                <a:ea typeface="DM Sans" pitchFamily="34" charset="-122"/>
                <a:cs typeface="DM Sans" pitchFamily="34" charset="-120"/>
              </a:rPr>
              <a:t> </a:t>
            </a:r>
            <a:pPr algn="l" indent="0" marL="0">
              <a:lnSpc>
                <a:spcPts val="1539"/>
              </a:lnSpc>
              <a:buNone/>
            </a:pPr>
            <a:r>
              <a:rPr lang="en-US" sz="1140" i="1" u="sng" dirty="0">
                <a:solidFill>
                  <a:srgbClr val="141414">
                    <a:alpha val="99000"/>
                  </a:srgbClr>
                </a:solidFill>
                <a:latin typeface="DM Sans" pitchFamily="34" charset="0"/>
                <a:ea typeface="DM Sans" pitchFamily="34" charset="-122"/>
                <a:cs typeface="DM Sans" pitchFamily="34" charset="-120"/>
              </a:rPr>
              <a:t>Pourquoi ce choix ?</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Permet de découper l'interface en éléments réutilisables</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DOM virtuel  qui optimise les performances de l’application.  </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Facilite l'intégration de bibliothèques (routing, gestion d'état, appels API). </a:t>
            </a:r>
            <a:endParaRPr lang="en-US" sz="1140" dirty="0"/>
          </a:p>
          <a:p>
            <a:pPr algn="l" marL="342900" indent="-342900">
              <a:lnSpc>
                <a:spcPts val="1539"/>
              </a:lnSpc>
              <a:buSzPct val="100000"/>
              <a:buChar char="•"/>
            </a:pPr>
            <a:r>
              <a:rPr lang="en-US" sz="1140" dirty="0">
                <a:solidFill>
                  <a:srgbClr val="141414">
                    <a:alpha val="99000"/>
                  </a:srgbClr>
                </a:solidFill>
                <a:latin typeface="DM Sans" pitchFamily="34" charset="0"/>
                <a:ea typeface="DM Sans" pitchFamily="34" charset="-122"/>
                <a:cs typeface="DM Sans" pitchFamily="34" charset="-120"/>
              </a:rPr>
              <a:t>Code structuré et testable.</a:t>
            </a:r>
            <a:endParaRPr lang="en-US" sz="1140" dirty="0"/>
          </a:p>
        </p:txBody>
      </p:sp>
      <p:sp>
        <p:nvSpPr>
          <p:cNvPr id="15" name="Text 10"/>
          <p:cNvSpPr/>
          <p:nvPr/>
        </p:nvSpPr>
        <p:spPr>
          <a:xfrm>
            <a:off x="476250" y="357188"/>
            <a:ext cx="862013" cy="200025"/>
          </a:xfrm>
          <a:prstGeom prst="rect">
            <a:avLst/>
          </a:prstGeom>
          <a:noFill/>
          <a:ln/>
        </p:spPr>
        <p:txBody>
          <a:bodyPr wrap="square" lIns="0" tIns="0" rIns="0" bIns="0" rtlCol="0" anchor="ctr"/>
          <a:lstStyle/>
          <a:p>
            <a:pPr algn="l" indent="0" marL="0">
              <a:lnSpc>
                <a:spcPts val="1496"/>
              </a:lnSpc>
              <a:buNone/>
            </a:pPr>
            <a:r>
              <a:rPr lang="en-US" sz="998" b="1" spc="-22" kern="0" dirty="0">
                <a:solidFill>
                  <a:srgbClr val="888888">
                    <a:alpha val="99000"/>
                  </a:srgbClr>
                </a:solidFill>
                <a:latin typeface="Goudy Trajan" pitchFamily="34" charset="0"/>
                <a:ea typeface="Goudy Trajan" pitchFamily="34" charset="-122"/>
                <a:cs typeface="Goudy Trajan" pitchFamily="34" charset="-120"/>
              </a:rPr>
              <a:t>Réalisation</a:t>
            </a:r>
            <a:endParaRPr lang="en-US" sz="998" dirty="0"/>
          </a:p>
        </p:txBody>
      </p:sp>
      <p:sp>
        <p:nvSpPr>
          <p:cNvPr id="16" name="Text 11"/>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17" name="Text 12"/>
          <p:cNvSpPr/>
          <p:nvPr/>
        </p:nvSpPr>
        <p:spPr>
          <a:xfrm>
            <a:off x="8562975" y="4829175"/>
            <a:ext cx="104775"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17</a:t>
            </a:r>
            <a:endParaRPr lang="en-US" sz="748"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238250" y="361950"/>
            <a:ext cx="6667500" cy="428625"/>
          </a:xfrm>
          <a:prstGeom prst="rect">
            <a:avLst/>
          </a:prstGeom>
          <a:noFill/>
          <a:ln/>
        </p:spPr>
        <p:txBody>
          <a:bodyPr wrap="square" lIns="0" tIns="0" rIns="0" bIns="0" rtlCol="0" anchor="t"/>
          <a:lstStyle/>
          <a:p>
            <a:pPr algn="ctr"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Aperçu de l'application</a:t>
            </a:r>
            <a:endParaRPr lang="en-US" sz="3206" dirty="0"/>
          </a:p>
        </p:txBody>
      </p:sp>
      <p:pic>
        <p:nvPicPr>
          <p:cNvPr id="3" name="Image 0" descr="preencoded.png">    </p:cNvPr>
          <p:cNvPicPr>
            <a:picLocks noChangeAspect="1"/>
          </p:cNvPicPr>
          <p:nvPr/>
        </p:nvPicPr>
        <p:blipFill>
          <a:blip r:embed="rId1"/>
          <a:srcRect l="0" r="0" t="0" b="0"/>
          <a:stretch/>
        </p:blipFill>
        <p:spPr>
          <a:xfrm>
            <a:off x="4643438" y="1557338"/>
            <a:ext cx="4291013" cy="2371725"/>
          </a:xfrm>
          <a:prstGeom prst="rect">
            <a:avLst/>
          </a:prstGeom>
        </p:spPr>
      </p:pic>
      <p:sp>
        <p:nvSpPr>
          <p:cNvPr id="4" name="Text 1"/>
          <p:cNvSpPr/>
          <p:nvPr/>
        </p:nvSpPr>
        <p:spPr>
          <a:xfrm>
            <a:off x="1724025" y="1219200"/>
            <a:ext cx="1271588"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Page de connexion</a:t>
            </a:r>
            <a:endParaRPr lang="en-US" sz="1140" dirty="0"/>
          </a:p>
        </p:txBody>
      </p:sp>
      <p:sp>
        <p:nvSpPr>
          <p:cNvPr id="5" name="Text 2"/>
          <p:cNvSpPr/>
          <p:nvPr/>
        </p:nvSpPr>
        <p:spPr>
          <a:xfrm>
            <a:off x="6248400" y="1219200"/>
            <a:ext cx="1090613"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Tableau de bord</a:t>
            </a:r>
            <a:endParaRPr lang="en-US" sz="1140" dirty="0"/>
          </a:p>
        </p:txBody>
      </p:sp>
      <p:pic>
        <p:nvPicPr>
          <p:cNvPr id="6" name="Image 1" descr="preencoded.png">    </p:cNvPr>
          <p:cNvPicPr>
            <a:picLocks noChangeAspect="1"/>
          </p:cNvPicPr>
          <p:nvPr/>
        </p:nvPicPr>
        <p:blipFill>
          <a:blip r:embed="rId2"/>
          <a:srcRect l="0" r="0" t="0" b="0"/>
          <a:stretch/>
        </p:blipFill>
        <p:spPr>
          <a:xfrm>
            <a:off x="209550" y="1557338"/>
            <a:ext cx="4291013" cy="23717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4643438" y="257175"/>
            <a:ext cx="4291013" cy="2371725"/>
          </a:xfrm>
          <a:prstGeom prst="rect">
            <a:avLst/>
          </a:prstGeom>
        </p:spPr>
      </p:pic>
      <p:sp>
        <p:nvSpPr>
          <p:cNvPr id="3" name="Text 0"/>
          <p:cNvSpPr/>
          <p:nvPr/>
        </p:nvSpPr>
        <p:spPr>
          <a:xfrm>
            <a:off x="1576388" y="61912"/>
            <a:ext cx="1562100"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Page demande Congés</a:t>
            </a:r>
            <a:endParaRPr lang="en-US" sz="1140" dirty="0"/>
          </a:p>
        </p:txBody>
      </p:sp>
      <p:sp>
        <p:nvSpPr>
          <p:cNvPr id="4" name="Text 1"/>
          <p:cNvSpPr/>
          <p:nvPr/>
        </p:nvSpPr>
        <p:spPr>
          <a:xfrm>
            <a:off x="5715000" y="61912"/>
            <a:ext cx="2157413"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Page Evaluation de Performance</a:t>
            </a:r>
            <a:endParaRPr lang="en-US" sz="1140" dirty="0"/>
          </a:p>
        </p:txBody>
      </p:sp>
      <p:pic>
        <p:nvPicPr>
          <p:cNvPr id="5" name="Image 1" descr="preencoded.png">    </p:cNvPr>
          <p:cNvPicPr>
            <a:picLocks noChangeAspect="1"/>
          </p:cNvPicPr>
          <p:nvPr/>
        </p:nvPicPr>
        <p:blipFill>
          <a:blip r:embed="rId2"/>
          <a:srcRect l="0" r="0" t="0" b="0"/>
          <a:stretch/>
        </p:blipFill>
        <p:spPr>
          <a:xfrm>
            <a:off x="209550" y="257175"/>
            <a:ext cx="4291013" cy="2371725"/>
          </a:xfrm>
          <a:prstGeom prst="rect">
            <a:avLst/>
          </a:prstGeom>
        </p:spPr>
      </p:pic>
      <p:pic>
        <p:nvPicPr>
          <p:cNvPr id="6" name="Image 2" descr="preencoded.png">    </p:cNvPr>
          <p:cNvPicPr>
            <a:picLocks noChangeAspect="1"/>
          </p:cNvPicPr>
          <p:nvPr/>
        </p:nvPicPr>
        <p:blipFill>
          <a:blip r:embed="rId3"/>
          <a:srcRect l="0" r="0" t="0" b="2218"/>
          <a:stretch/>
        </p:blipFill>
        <p:spPr>
          <a:xfrm>
            <a:off x="4643438" y="2833688"/>
            <a:ext cx="4291013" cy="2309813"/>
          </a:xfrm>
          <a:prstGeom prst="rect">
            <a:avLst/>
          </a:prstGeom>
        </p:spPr>
      </p:pic>
      <p:sp>
        <p:nvSpPr>
          <p:cNvPr id="7" name="Text 2"/>
          <p:cNvSpPr/>
          <p:nvPr/>
        </p:nvSpPr>
        <p:spPr>
          <a:xfrm>
            <a:off x="1452563" y="2667000"/>
            <a:ext cx="1814513"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Page Pointage de Présence</a:t>
            </a:r>
            <a:endParaRPr lang="en-US" sz="1140" dirty="0"/>
          </a:p>
        </p:txBody>
      </p:sp>
      <p:pic>
        <p:nvPicPr>
          <p:cNvPr id="8" name="Image 3" descr="preencoded.png">    </p:cNvPr>
          <p:cNvPicPr>
            <a:picLocks noChangeAspect="1"/>
          </p:cNvPicPr>
          <p:nvPr/>
        </p:nvPicPr>
        <p:blipFill>
          <a:blip r:embed="rId4"/>
          <a:srcRect l="0" r="0" t="0" b="0"/>
          <a:stretch/>
        </p:blipFill>
        <p:spPr>
          <a:xfrm>
            <a:off x="209550" y="2892654"/>
            <a:ext cx="4291013" cy="2250846"/>
          </a:xfrm>
          <a:prstGeom prst="rect">
            <a:avLst/>
          </a:prstGeom>
        </p:spPr>
      </p:pic>
      <p:sp>
        <p:nvSpPr>
          <p:cNvPr id="9" name="Text 3"/>
          <p:cNvSpPr/>
          <p:nvPr/>
        </p:nvSpPr>
        <p:spPr>
          <a:xfrm>
            <a:off x="6291263" y="2652713"/>
            <a:ext cx="1281113"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Liste des Employés</a:t>
            </a:r>
            <a:endParaRPr lang="en-US" sz="11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4643438" y="257175"/>
            <a:ext cx="4291013" cy="2371725"/>
          </a:xfrm>
          <a:prstGeom prst="rect">
            <a:avLst/>
          </a:prstGeom>
        </p:spPr>
      </p:pic>
      <p:sp>
        <p:nvSpPr>
          <p:cNvPr id="3" name="Text 0"/>
          <p:cNvSpPr/>
          <p:nvPr/>
        </p:nvSpPr>
        <p:spPr>
          <a:xfrm>
            <a:off x="1419225" y="61912"/>
            <a:ext cx="1876425"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Page de Gestion des Actif IT</a:t>
            </a:r>
            <a:endParaRPr lang="en-US" sz="1140" dirty="0"/>
          </a:p>
        </p:txBody>
      </p:sp>
      <p:sp>
        <p:nvSpPr>
          <p:cNvPr id="4" name="Text 1"/>
          <p:cNvSpPr/>
          <p:nvPr/>
        </p:nvSpPr>
        <p:spPr>
          <a:xfrm>
            <a:off x="6200775" y="61912"/>
            <a:ext cx="1185863"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Profile d’ Employé</a:t>
            </a:r>
            <a:endParaRPr lang="en-US" sz="1140" dirty="0"/>
          </a:p>
        </p:txBody>
      </p:sp>
      <p:pic>
        <p:nvPicPr>
          <p:cNvPr id="5" name="Image 1" descr="preencoded.png">    </p:cNvPr>
          <p:cNvPicPr>
            <a:picLocks noChangeAspect="1"/>
          </p:cNvPicPr>
          <p:nvPr/>
        </p:nvPicPr>
        <p:blipFill>
          <a:blip r:embed="rId2"/>
          <a:srcRect l="0" r="0" t="0" b="0"/>
          <a:stretch/>
        </p:blipFill>
        <p:spPr>
          <a:xfrm>
            <a:off x="209550" y="257175"/>
            <a:ext cx="4291013" cy="2371725"/>
          </a:xfrm>
          <a:prstGeom prst="rect">
            <a:avLst/>
          </a:prstGeom>
        </p:spPr>
      </p:pic>
      <p:pic>
        <p:nvPicPr>
          <p:cNvPr id="6" name="Image 2" descr="preencoded.png">    </p:cNvPr>
          <p:cNvPicPr>
            <a:picLocks noChangeAspect="1"/>
          </p:cNvPicPr>
          <p:nvPr/>
        </p:nvPicPr>
        <p:blipFill>
          <a:blip r:embed="rId3"/>
          <a:srcRect l="0" r="0" t="0" b="2218"/>
          <a:stretch/>
        </p:blipFill>
        <p:spPr>
          <a:xfrm>
            <a:off x="4643438" y="2833688"/>
            <a:ext cx="4291013" cy="2309813"/>
          </a:xfrm>
          <a:prstGeom prst="rect">
            <a:avLst/>
          </a:prstGeom>
        </p:spPr>
      </p:pic>
      <p:sp>
        <p:nvSpPr>
          <p:cNvPr id="7" name="Text 2"/>
          <p:cNvSpPr/>
          <p:nvPr/>
        </p:nvSpPr>
        <p:spPr>
          <a:xfrm>
            <a:off x="1638300" y="2643188"/>
            <a:ext cx="1443038"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Page Bulletins de Paie</a:t>
            </a:r>
            <a:endParaRPr lang="en-US" sz="1140" dirty="0"/>
          </a:p>
        </p:txBody>
      </p:sp>
      <p:pic>
        <p:nvPicPr>
          <p:cNvPr id="8" name="Image 3" descr="preencoded.png">    </p:cNvPr>
          <p:cNvPicPr>
            <a:picLocks noChangeAspect="1"/>
          </p:cNvPicPr>
          <p:nvPr/>
        </p:nvPicPr>
        <p:blipFill>
          <a:blip r:embed="rId4"/>
          <a:srcRect l="0" r="0" t="0" b="0"/>
          <a:stretch/>
        </p:blipFill>
        <p:spPr>
          <a:xfrm>
            <a:off x="209550" y="2892654"/>
            <a:ext cx="4291013" cy="2250846"/>
          </a:xfrm>
          <a:prstGeom prst="rect">
            <a:avLst/>
          </a:prstGeom>
        </p:spPr>
      </p:pic>
      <p:sp>
        <p:nvSpPr>
          <p:cNvPr id="9" name="Text 3"/>
          <p:cNvSpPr/>
          <p:nvPr/>
        </p:nvSpPr>
        <p:spPr>
          <a:xfrm>
            <a:off x="6210300" y="2643188"/>
            <a:ext cx="1443038"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Page Communication</a:t>
            </a:r>
            <a:endParaRPr lang="en-US" sz="11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4643438" y="1485900"/>
            <a:ext cx="4291013" cy="2371725"/>
          </a:xfrm>
          <a:prstGeom prst="rect">
            <a:avLst/>
          </a:prstGeom>
        </p:spPr>
      </p:pic>
      <p:sp>
        <p:nvSpPr>
          <p:cNvPr id="3" name="Text 0"/>
          <p:cNvSpPr/>
          <p:nvPr/>
        </p:nvSpPr>
        <p:spPr>
          <a:xfrm>
            <a:off x="1657350" y="1290638"/>
            <a:ext cx="1404938"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Page Journal d’ Audit</a:t>
            </a:r>
            <a:endParaRPr lang="en-US" sz="1140" dirty="0"/>
          </a:p>
        </p:txBody>
      </p:sp>
      <p:sp>
        <p:nvSpPr>
          <p:cNvPr id="4" name="Text 1"/>
          <p:cNvSpPr/>
          <p:nvPr/>
        </p:nvSpPr>
        <p:spPr>
          <a:xfrm>
            <a:off x="5876925" y="1290638"/>
            <a:ext cx="1828800" cy="204788"/>
          </a:xfrm>
          <a:prstGeom prst="rect">
            <a:avLst/>
          </a:prstGeom>
          <a:noFill/>
          <a:ln/>
        </p:spPr>
        <p:txBody>
          <a:bodyPr wrap="square" lIns="0" tIns="0" rIns="0" bIns="0" rtlCol="0" anchor="t"/>
          <a:lstStyle/>
          <a:p>
            <a:pPr algn="ctr"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Page Gestion des Comptes</a:t>
            </a:r>
            <a:endParaRPr lang="en-US" sz="1140" dirty="0"/>
          </a:p>
        </p:txBody>
      </p:sp>
      <p:pic>
        <p:nvPicPr>
          <p:cNvPr id="5" name="Image 1" descr="preencoded.png">    </p:cNvPr>
          <p:cNvPicPr>
            <a:picLocks noChangeAspect="1"/>
          </p:cNvPicPr>
          <p:nvPr/>
        </p:nvPicPr>
        <p:blipFill>
          <a:blip r:embed="rId2"/>
          <a:srcRect l="0" r="0" t="0" b="0"/>
          <a:stretch/>
        </p:blipFill>
        <p:spPr>
          <a:xfrm>
            <a:off x="209550" y="1485900"/>
            <a:ext cx="4291013" cy="23717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1375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rcRect l="0" r="0" t="0" b="0"/>
          <a:stretch/>
        </p:blipFill>
        <p:spPr>
          <a:xfrm>
            <a:off x="4619625" y="3752850"/>
            <a:ext cx="276225" cy="175354"/>
          </a:xfrm>
          <a:prstGeom prst="rect">
            <a:avLst/>
          </a:prstGeom>
        </p:spPr>
      </p:pic>
      <p:sp>
        <p:nvSpPr>
          <p:cNvPr id="4" name="Shape 0"/>
          <p:cNvSpPr/>
          <p:nvPr/>
        </p:nvSpPr>
        <p:spPr>
          <a:xfrm>
            <a:off x="5248275" y="1181100"/>
            <a:ext cx="3633788" cy="2781300"/>
          </a:xfrm>
          <a:prstGeom prst="rect">
            <a:avLst/>
          </a:prstGeom>
          <a:noFill/>
          <a:ln/>
        </p:spPr>
      </p:sp>
      <p:sp>
        <p:nvSpPr>
          <p:cNvPr id="5" name="Text 1"/>
          <p:cNvSpPr/>
          <p:nvPr/>
        </p:nvSpPr>
        <p:spPr>
          <a:xfrm>
            <a:off x="5248275" y="1181100"/>
            <a:ext cx="1566863"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Introduction</a:t>
            </a:r>
            <a:endParaRPr lang="en-US" sz="2138" dirty="0"/>
          </a:p>
        </p:txBody>
      </p:sp>
      <p:sp>
        <p:nvSpPr>
          <p:cNvPr id="6" name="Text 2"/>
          <p:cNvSpPr/>
          <p:nvPr/>
        </p:nvSpPr>
        <p:spPr>
          <a:xfrm>
            <a:off x="5248275" y="1790700"/>
            <a:ext cx="3038475"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NewDev Maroc</a:t>
            </a:r>
            <a:endParaRPr lang="en-US" sz="2138" dirty="0"/>
          </a:p>
        </p:txBody>
      </p:sp>
      <p:sp>
        <p:nvSpPr>
          <p:cNvPr id="7" name="Text 3"/>
          <p:cNvSpPr/>
          <p:nvPr/>
        </p:nvSpPr>
        <p:spPr>
          <a:xfrm>
            <a:off x="5248275" y="2400300"/>
            <a:ext cx="2805113"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Analyse &amp; Conception</a:t>
            </a:r>
            <a:endParaRPr lang="en-US" sz="2138" dirty="0"/>
          </a:p>
        </p:txBody>
      </p:sp>
      <p:sp>
        <p:nvSpPr>
          <p:cNvPr id="8" name="Text 4"/>
          <p:cNvSpPr/>
          <p:nvPr/>
        </p:nvSpPr>
        <p:spPr>
          <a:xfrm>
            <a:off x="5248275" y="3009900"/>
            <a:ext cx="1371600"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Réalisation</a:t>
            </a:r>
            <a:endParaRPr lang="en-US" sz="2138" dirty="0"/>
          </a:p>
        </p:txBody>
      </p:sp>
      <p:sp>
        <p:nvSpPr>
          <p:cNvPr id="9" name="Text 5"/>
          <p:cNvSpPr/>
          <p:nvPr/>
        </p:nvSpPr>
        <p:spPr>
          <a:xfrm>
            <a:off x="5248275" y="3619500"/>
            <a:ext cx="3633788" cy="342900"/>
          </a:xfrm>
          <a:prstGeom prst="rect">
            <a:avLst/>
          </a:prstGeom>
          <a:noFill/>
          <a:ln/>
        </p:spPr>
        <p:txBody>
          <a:bodyPr wrap="square" lIns="0" tIns="0" rIns="0" bIns="0" rtlCol="0" anchor="t"/>
          <a:lstStyle/>
          <a:p>
            <a:pPr algn="l" indent="0" marL="0">
              <a:lnSpc>
                <a:spcPts val="2565"/>
              </a:lnSpc>
              <a:buNone/>
            </a:pPr>
            <a:r>
              <a:rPr lang="en-US" sz="2138" spc="-21" kern="0" dirty="0">
                <a:solidFill>
                  <a:srgbClr val="FFFFFF">
                    <a:alpha val="99000"/>
                  </a:srgbClr>
                </a:solidFill>
                <a:latin typeface="Palatino Linotype" pitchFamily="34" charset="0"/>
                <a:ea typeface="Palatino Linotype" pitchFamily="34" charset="-122"/>
                <a:cs typeface="Palatino Linotype" pitchFamily="34" charset="-120"/>
              </a:rPr>
              <a:t>Démonstration &amp; Conclusion</a:t>
            </a:r>
            <a:endParaRPr lang="en-US" sz="2138" dirty="0"/>
          </a:p>
        </p:txBody>
      </p:sp>
      <p:sp>
        <p:nvSpPr>
          <p:cNvPr id="10" name="Text 6"/>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FFFFFF">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11" name="Text 7"/>
          <p:cNvSpPr/>
          <p:nvPr/>
        </p:nvSpPr>
        <p:spPr>
          <a:xfrm>
            <a:off x="8543925" y="4829175"/>
            <a:ext cx="123825"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FFFFFF">
                    <a:alpha val="99000"/>
                  </a:srgbClr>
                </a:solidFill>
                <a:latin typeface="Inter" pitchFamily="34" charset="0"/>
                <a:ea typeface="Inter" pitchFamily="34" charset="-122"/>
                <a:cs typeface="Inter" pitchFamily="34" charset="-120"/>
              </a:rPr>
              <a:t>23</a:t>
            </a:r>
            <a:endParaRPr lang="en-US" sz="748" dirty="0"/>
          </a:p>
        </p:txBody>
      </p:sp>
      <p:sp>
        <p:nvSpPr>
          <p:cNvPr id="12" name="Text 8"/>
          <p:cNvSpPr/>
          <p:nvPr/>
        </p:nvSpPr>
        <p:spPr>
          <a:xfrm>
            <a:off x="476250" y="357188"/>
            <a:ext cx="2266950" cy="200025"/>
          </a:xfrm>
          <a:prstGeom prst="rect">
            <a:avLst/>
          </a:prstGeom>
          <a:noFill/>
          <a:ln/>
        </p:spPr>
        <p:txBody>
          <a:bodyPr wrap="square" lIns="0" tIns="0" rIns="0" bIns="0" rtlCol="0" anchor="ctr"/>
          <a:lstStyle/>
          <a:p>
            <a:pPr algn="l" indent="0" marL="0">
              <a:lnSpc>
                <a:spcPts val="1496"/>
              </a:lnSpc>
              <a:buNone/>
            </a:pPr>
            <a:r>
              <a:rPr lang="en-US" sz="998" b="1" spc="-22" kern="0" dirty="0">
                <a:solidFill>
                  <a:srgbClr val="FFFFFF">
                    <a:alpha val="99000"/>
                  </a:srgbClr>
                </a:solidFill>
                <a:latin typeface="Goudy Trajan" pitchFamily="34" charset="0"/>
                <a:ea typeface="Goudy Trajan" pitchFamily="34" charset="-122"/>
                <a:cs typeface="Goudy Trajan" pitchFamily="34" charset="-120"/>
              </a:rPr>
              <a:t>Démonstration &amp; </a:t>
            </a:r>
            <a:pPr algn="l" indent="0" marL="0">
              <a:lnSpc>
                <a:spcPts val="1496"/>
              </a:lnSpc>
              <a:buNone/>
            </a:pPr>
            <a:r>
              <a:rPr lang="en-US" sz="998" b="1" spc="-22" kern="0" dirty="0">
                <a:solidFill>
                  <a:srgbClr val="FFFFFF">
                    <a:alpha val="99000"/>
                  </a:srgbClr>
                </a:solidFill>
                <a:latin typeface="Goudy Trajan" pitchFamily="34" charset="0"/>
                <a:ea typeface="Goudy Trajan" pitchFamily="34" charset="-122"/>
                <a:cs typeface="Goudy Trajan" pitchFamily="34" charset="-120"/>
              </a:rPr>
              <a:t>Conclusion</a:t>
            </a:r>
            <a:endParaRPr lang="en-US" sz="998"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C2F3D9"/>
        </a:solidFill>
      </p:bgPr>
    </p:bg>
    <p:spTree>
      <p:nvGrpSpPr>
        <p:cNvPr id="1" name=""/>
        <p:cNvGrpSpPr/>
        <p:nvPr/>
      </p:nvGrpSpPr>
      <p:grpSpPr>
        <a:xfrm>
          <a:off x="0" y="0"/>
          <a:ext cx="0" cy="0"/>
          <a:chOff x="0" y="0"/>
          <a:chExt cx="0" cy="0"/>
        </a:xfrm>
      </p:grpSpPr>
      <p:sp>
        <p:nvSpPr>
          <p:cNvPr id="2" name="Shape 0"/>
          <p:cNvSpPr/>
          <p:nvPr/>
        </p:nvSpPr>
        <p:spPr>
          <a:xfrm>
            <a:off x="2047875" y="1924050"/>
            <a:ext cx="5048250" cy="1295400"/>
          </a:xfrm>
          <a:prstGeom prst="rect">
            <a:avLst/>
          </a:prstGeom>
          <a:noFill/>
          <a:ln/>
        </p:spPr>
      </p:sp>
      <p:sp>
        <p:nvSpPr>
          <p:cNvPr id="3" name="Text 1"/>
          <p:cNvSpPr/>
          <p:nvPr/>
        </p:nvSpPr>
        <p:spPr>
          <a:xfrm>
            <a:off x="2047875" y="1924050"/>
            <a:ext cx="5048250" cy="1295400"/>
          </a:xfrm>
          <a:prstGeom prst="rect">
            <a:avLst/>
          </a:prstGeom>
          <a:noFill/>
          <a:ln/>
        </p:spPr>
        <p:txBody>
          <a:bodyPr wrap="square" lIns="0" tIns="0" rIns="0" bIns="0" rtlCol="0" anchor="t"/>
          <a:lstStyle/>
          <a:p>
            <a:pPr algn="ctr" indent="0" marL="0">
              <a:lnSpc>
                <a:spcPts val="4838"/>
              </a:lnSpc>
              <a:buNone/>
            </a:pPr>
            <a:r>
              <a:rPr lang="en-US" sz="4988" spc="-150" kern="0" dirty="0">
                <a:solidFill>
                  <a:srgbClr val="136F64">
                    <a:alpha val="99000"/>
                  </a:srgbClr>
                </a:solidFill>
                <a:latin typeface="DM Serif Display" pitchFamily="34" charset="0"/>
                <a:ea typeface="DM Serif Display" pitchFamily="34" charset="-122"/>
                <a:cs typeface="DM Serif Display" pitchFamily="34" charset="-120"/>
              </a:rPr>
              <a:t>Démonstration </a:t>
            </a:r>
            <a:endParaRPr lang="en-US" sz="4988" dirty="0"/>
          </a:p>
          <a:p>
            <a:pPr algn="ctr" indent="0" marL="0">
              <a:lnSpc>
                <a:spcPts val="4838"/>
              </a:lnSpc>
              <a:buNone/>
            </a:pPr>
            <a:r>
              <a:rPr lang="en-US" sz="4988" spc="-150" kern="0" dirty="0">
                <a:solidFill>
                  <a:srgbClr val="136F64">
                    <a:alpha val="99000"/>
                  </a:srgbClr>
                </a:solidFill>
                <a:latin typeface="DM Serif Display" pitchFamily="34" charset="0"/>
                <a:ea typeface="DM Serif Display" pitchFamily="34" charset="-122"/>
                <a:cs typeface="DM Serif Display" pitchFamily="34" charset="-120"/>
              </a:rPr>
              <a:t>D’ Application</a:t>
            </a:r>
            <a:endParaRPr lang="en-US" sz="4988"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714875" y="-4762"/>
            <a:ext cx="4429125" cy="5148263"/>
          </a:xfrm>
          <a:prstGeom prst="rect">
            <a:avLst/>
          </a:prstGeom>
          <a:solidFill>
            <a:srgbClr val="A9F0F5"/>
          </a:solidFill>
          <a:ln/>
        </p:spPr>
      </p:sp>
      <p:sp>
        <p:nvSpPr>
          <p:cNvPr id="3" name="Text 1"/>
          <p:cNvSpPr/>
          <p:nvPr/>
        </p:nvSpPr>
        <p:spPr>
          <a:xfrm>
            <a:off x="714375" y="1802606"/>
            <a:ext cx="3705225" cy="1685925"/>
          </a:xfrm>
          <a:prstGeom prst="rect">
            <a:avLst/>
          </a:prstGeom>
          <a:noFill/>
          <a:ln/>
        </p:spPr>
        <p:txBody>
          <a:bodyPr wrap="square" lIns="0" tIns="0" rIns="0" bIns="0" rtlCol="0" anchor="t"/>
          <a:lstStyle/>
          <a:p>
            <a:pPr algn="l" indent="0" marL="0">
              <a:lnSpc>
                <a:spcPts val="2116"/>
              </a:lnSpc>
              <a:buNone/>
            </a:pPr>
            <a:r>
              <a:rPr lang="en-US" sz="1568" dirty="0">
                <a:solidFill>
                  <a:srgbClr val="141414">
                    <a:alpha val="99000"/>
                  </a:srgbClr>
                </a:solidFill>
                <a:latin typeface="DM Sans" pitchFamily="34" charset="0"/>
                <a:ea typeface="DM Sans" pitchFamily="34" charset="-122"/>
                <a:cs typeface="DM Sans" pitchFamily="34" charset="-120"/>
              </a:rPr>
              <a:t>Ce stage a permis de concevoir une solution complète, de l'analyse des besoins jusqu'à la réalisation, tout en consolidant des compétences techniques (React, Spring Boot) et méthodologiques (UML, gestion de projet).</a:t>
            </a:r>
            <a:endParaRPr lang="en-US" sz="1568" dirty="0"/>
          </a:p>
        </p:txBody>
      </p:sp>
      <p:sp>
        <p:nvSpPr>
          <p:cNvPr id="4" name="Text 2"/>
          <p:cNvSpPr/>
          <p:nvPr/>
        </p:nvSpPr>
        <p:spPr>
          <a:xfrm>
            <a:off x="714375" y="666750"/>
            <a:ext cx="3705225" cy="428625"/>
          </a:xfrm>
          <a:prstGeom prst="rect">
            <a:avLst/>
          </a:prstGeom>
          <a:noFill/>
          <a:ln/>
        </p:spPr>
        <p:txBody>
          <a:bodyPr wrap="square" lIns="0" tIns="0" rIns="0" bIns="0" rtlCol="0" anchor="t"/>
          <a:lstStyle/>
          <a:p>
            <a:pPr algn="l"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Conclusion</a:t>
            </a:r>
            <a:endParaRPr lang="en-US" sz="3206" dirty="0"/>
          </a:p>
        </p:txBody>
      </p:sp>
      <p:sp>
        <p:nvSpPr>
          <p:cNvPr id="5" name="Text 3"/>
          <p:cNvSpPr/>
          <p:nvPr/>
        </p:nvSpPr>
        <p:spPr>
          <a:xfrm>
            <a:off x="5076825" y="1802606"/>
            <a:ext cx="3705225" cy="1123950"/>
          </a:xfrm>
          <a:prstGeom prst="rect">
            <a:avLst/>
          </a:prstGeom>
          <a:noFill/>
          <a:ln/>
        </p:spPr>
        <p:txBody>
          <a:bodyPr wrap="square" lIns="0" tIns="0" rIns="0" bIns="0" rtlCol="0" anchor="t"/>
          <a:lstStyle/>
          <a:p>
            <a:pPr algn="l" indent="0" marL="0">
              <a:lnSpc>
                <a:spcPts val="2116"/>
              </a:lnSpc>
              <a:buNone/>
            </a:pPr>
            <a:r>
              <a:rPr lang="en-US" sz="1568" dirty="0">
                <a:solidFill>
                  <a:srgbClr val="141414">
                    <a:alpha val="99000"/>
                  </a:srgbClr>
                </a:solidFill>
                <a:latin typeface="DM Sans" pitchFamily="34" charset="0"/>
                <a:ea typeface="DM Sans" pitchFamily="34" charset="-122"/>
                <a:cs typeface="DM Sans" pitchFamily="34" charset="-120"/>
              </a:rPr>
              <a:t>Le projet pourrait évoluer vers la gestion de la paie, un module de reporting avancé, ou encore une application mobile pour les employés.</a:t>
            </a:r>
            <a:endParaRPr lang="en-US" sz="1568" dirty="0"/>
          </a:p>
        </p:txBody>
      </p:sp>
      <p:sp>
        <p:nvSpPr>
          <p:cNvPr id="6" name="Text 4"/>
          <p:cNvSpPr/>
          <p:nvPr/>
        </p:nvSpPr>
        <p:spPr>
          <a:xfrm>
            <a:off x="5076825" y="666750"/>
            <a:ext cx="3705225" cy="428625"/>
          </a:xfrm>
          <a:prstGeom prst="rect">
            <a:avLst/>
          </a:prstGeom>
          <a:noFill/>
          <a:ln/>
        </p:spPr>
        <p:txBody>
          <a:bodyPr wrap="square" lIns="0" tIns="0" rIns="0" bIns="0" rtlCol="0" anchor="t"/>
          <a:lstStyle/>
          <a:p>
            <a:pPr algn="l" indent="0" marL="0">
              <a:lnSpc>
                <a:spcPts val="3206"/>
              </a:lnSpc>
              <a:buNone/>
            </a:pPr>
            <a:r>
              <a:rPr lang="en-US" sz="3206" spc="-71" kern="0" dirty="0">
                <a:solidFill>
                  <a:srgbClr val="141414">
                    <a:alpha val="99000"/>
                  </a:srgbClr>
                </a:solidFill>
                <a:latin typeface="DM Serif Text" pitchFamily="34" charset="0"/>
                <a:ea typeface="DM Serif Text" pitchFamily="34" charset="-122"/>
                <a:cs typeface="DM Serif Text" pitchFamily="34" charset="-120"/>
              </a:rPr>
              <a:t>Perspectives</a:t>
            </a:r>
            <a:endParaRPr lang="en-US" sz="3206" dirty="0"/>
          </a:p>
        </p:txBody>
      </p:sp>
      <p:sp>
        <p:nvSpPr>
          <p:cNvPr id="7" name="Text 5"/>
          <p:cNvSpPr/>
          <p:nvPr/>
        </p:nvSpPr>
        <p:spPr>
          <a:xfrm>
            <a:off x="476250" y="357188"/>
            <a:ext cx="2266950" cy="200025"/>
          </a:xfrm>
          <a:prstGeom prst="rect">
            <a:avLst/>
          </a:prstGeom>
          <a:noFill/>
          <a:ln/>
        </p:spPr>
        <p:txBody>
          <a:bodyPr wrap="square" lIns="0" tIns="0" rIns="0" bIns="0" rtlCol="0" anchor="ctr"/>
          <a:lstStyle/>
          <a:p>
            <a:pPr algn="l" indent="0" marL="0">
              <a:lnSpc>
                <a:spcPts val="1496"/>
              </a:lnSpc>
              <a:buNone/>
            </a:pPr>
            <a:r>
              <a:rPr lang="en-US" sz="998" b="1" spc="-22" kern="0" dirty="0">
                <a:solidFill>
                  <a:srgbClr val="888888">
                    <a:alpha val="99000"/>
                  </a:srgbClr>
                </a:solidFill>
                <a:latin typeface="Goudy Trajan" pitchFamily="34" charset="0"/>
                <a:ea typeface="Goudy Trajan" pitchFamily="34" charset="-122"/>
                <a:cs typeface="Goudy Trajan" pitchFamily="34" charset="-120"/>
              </a:rPr>
              <a:t>Démonstration &amp; Conclusion</a:t>
            </a:r>
            <a:endParaRPr lang="en-US" sz="998" dirty="0"/>
          </a:p>
        </p:txBody>
      </p:sp>
      <p:sp>
        <p:nvSpPr>
          <p:cNvPr id="8" name="Text 6"/>
          <p:cNvSpPr/>
          <p:nvPr/>
        </p:nvSpPr>
        <p:spPr>
          <a:xfrm>
            <a:off x="476250" y="4829175"/>
            <a:ext cx="1538288" cy="152400"/>
          </a:xfrm>
          <a:prstGeom prst="rect">
            <a:avLst/>
          </a:prstGeom>
          <a:noFill/>
          <a:ln/>
        </p:spPr>
        <p:txBody>
          <a:bodyPr wrap="square" lIns="0" tIns="0" rIns="0" bIns="0" rtlCol="0" anchor="ctr"/>
          <a:lstStyle/>
          <a:p>
            <a:pPr algn="l"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Soutenance LST · Yinssi Oussama</a:t>
            </a:r>
            <a:endParaRPr lang="en-US" sz="748" dirty="0"/>
          </a:p>
        </p:txBody>
      </p:sp>
      <p:sp>
        <p:nvSpPr>
          <p:cNvPr id="9" name="Text 7"/>
          <p:cNvSpPr/>
          <p:nvPr/>
        </p:nvSpPr>
        <p:spPr>
          <a:xfrm>
            <a:off x="8543925" y="4829175"/>
            <a:ext cx="123825" cy="152400"/>
          </a:xfrm>
          <a:prstGeom prst="rect">
            <a:avLst/>
          </a:prstGeom>
          <a:noFill/>
          <a:ln/>
        </p:spPr>
        <p:txBody>
          <a:bodyPr wrap="square" lIns="0" tIns="0" rIns="0" bIns="0" rtlCol="0" anchor="ctr"/>
          <a:lstStyle/>
          <a:p>
            <a:pPr algn="r" indent="0" marL="0">
              <a:lnSpc>
                <a:spcPts val="1122"/>
              </a:lnSpc>
              <a:buNone/>
            </a:pPr>
            <a:r>
              <a:rPr lang="en-US" sz="748" spc="-16" kern="0" dirty="0">
                <a:solidFill>
                  <a:srgbClr val="888888">
                    <a:alpha val="99000"/>
                  </a:srgbClr>
                </a:solidFill>
                <a:latin typeface="Inter" pitchFamily="34" charset="0"/>
                <a:ea typeface="Inter" pitchFamily="34" charset="-122"/>
                <a:cs typeface="Inter" pitchFamily="34" charset="-120"/>
              </a:rPr>
              <a:t>25</a:t>
            </a:r>
            <a:endParaRPr lang="en-US" sz="748"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690813" y="1971675"/>
            <a:ext cx="3767138" cy="1200150"/>
          </a:xfrm>
          <a:prstGeom prst="rect">
            <a:avLst/>
          </a:prstGeom>
          <a:noFill/>
          <a:ln/>
        </p:spPr>
        <p:txBody>
          <a:bodyPr wrap="square" lIns="0" tIns="0" rIns="0" bIns="0" rtlCol="0" anchor="t"/>
          <a:lstStyle/>
          <a:p>
            <a:pPr algn="ctr" indent="0" marL="0">
              <a:lnSpc>
                <a:spcPts val="8985"/>
              </a:lnSpc>
              <a:buNone/>
            </a:pPr>
            <a:r>
              <a:rPr lang="en-US" sz="9263" spc="-278" kern="0" dirty="0">
                <a:solidFill>
                  <a:srgbClr val="141414">
                    <a:alpha val="99000"/>
                  </a:srgbClr>
                </a:solidFill>
                <a:latin typeface="DM Serif Display" pitchFamily="34" charset="0"/>
                <a:ea typeface="DM Serif Display" pitchFamily="34" charset="-122"/>
                <a:cs typeface="DM Serif Display" pitchFamily="34" charset="-120"/>
              </a:rPr>
              <a:t>MERCI!</a:t>
            </a:r>
            <a:endParaRPr lang="en-US" sz="9263" dirty="0"/>
          </a:p>
        </p:txBody>
      </p:sp>
      <p:sp>
        <p:nvSpPr>
          <p:cNvPr id="3" name="Text 1"/>
          <p:cNvSpPr/>
          <p:nvPr/>
        </p:nvSpPr>
        <p:spPr>
          <a:xfrm>
            <a:off x="3729038" y="4591050"/>
            <a:ext cx="1685925" cy="138113"/>
          </a:xfrm>
          <a:prstGeom prst="rect">
            <a:avLst/>
          </a:prstGeom>
          <a:noFill/>
          <a:ln/>
        </p:spPr>
        <p:txBody>
          <a:bodyPr wrap="square" lIns="0" tIns="0" rIns="0" bIns="0" rtlCol="0" anchor="t"/>
          <a:lstStyle/>
          <a:p>
            <a:pPr algn="ctr" indent="0" marL="0">
              <a:lnSpc>
                <a:spcPts val="1026"/>
              </a:lnSpc>
              <a:buNone/>
            </a:pPr>
            <a:r>
              <a:rPr lang="en-US" sz="855" spc="94" kern="0" dirty="0">
                <a:solidFill>
                  <a:srgbClr val="141414">
                    <a:alpha val="99000"/>
                  </a:srgbClr>
                </a:solidFill>
                <a:latin typeface="DM Sans" pitchFamily="34" charset="0"/>
                <a:ea typeface="DM Sans" pitchFamily="34" charset="-122"/>
                <a:cs typeface="DM Sans" pitchFamily="34" charset="-120"/>
              </a:rPr>
              <a:t>QUESTIONS &amp; DISCUSSION</a:t>
            </a:r>
            <a:endParaRPr lang="en-US" sz="85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2026-06-21T00:35:19Z</dcterms:created>
  <dcterms:modified xsi:type="dcterms:W3CDTF">2026-06-21T00:35:19Z</dcterms:modified>
</cp:coreProperties>
</file>